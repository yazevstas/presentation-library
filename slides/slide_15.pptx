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1858B03B-B4F3-4857-865B-DD344EB354F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81"/>
        <p:cNvGrpSpPr/>
        <p:nvPr/>
      </p:nvGrpSpPr>
      <p:grpSpPr>
        <a:xfrm>
          <a:off x="0" y="0"/>
          <a:ext cx="0" cy="0"/>
        </a:xfrm>
      </p:grpSpPr>
      <p:sp>
        <p:nvSpPr>
          <p:cNvPr id="1182" name="Google Shape;1182;g1869d044d7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3" name="Google Shape;1183;g1869d044d7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3FC1618-EBBA-48B6-B2BD-15B5E8F48B1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41A3693-0F94-41B1-A3F3-2C563026F64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9B8F0CA-7F2F-4D10-B53A-6E0B0ACAE2D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146135E-79CF-44DC-9D47-A33BB15D2EE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A4EEA62A-6962-4170-8D7D-8F4866C77F1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A0E84263-2948-4C47-B0A0-C82FBA7E50A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5599AC19-41A5-419E-A4A0-B43A9A9AFFC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0D0C646-9DDC-465C-B7C9-819F930BEE9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6A3BA63-2ACF-41CC-A259-4CB0F27ECBC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5A1623D-CE9B-4F4F-BB01-023125813DE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5C252345-445A-4786-B8DE-3207707213A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184"/>
        <p:cNvGrpSpPr/>
        <p:nvPr/>
      </p:nvGrpSpPr>
      <p:grpSpPr>
        <a:xfrm>
          <a:off x="0" y="0"/>
          <a:ext cx="0" cy="0"/>
        </a:xfrm>
      </p:grpSpPr>
      <p:sp>
        <p:nvSpPr>
          <p:cNvPr id="1185" name="Google Shape;1185;p4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>
                <a:cs typeface="Segoe UI"/>
              </a:rPr>
              <a:t>КАРТА ЭТАПОВ</a:t>
            </a:r>
            <a:endParaRPr lang="en" sz="2600" b="0">
              <a:latin typeface="Raleway Black"/>
              <a:ea typeface="Raleway Black"/>
              <a:cs typeface="Segoe UI"/>
            </a:endParaRPr>
          </a:p>
        </p:txBody>
      </p:sp>
      <p:graphicFrame>
        <p:nvGraphicFramePr>
          <p:cNvPr id="1186" name="Google Shape;1186;p45"/>
          <p:cNvGraphicFramePr>
            <a:graphicFrameLocks noGrp="1"/>
          </p:cNvGraphicFramePr>
          <p:nvPr>
            <p:extLst>
              <p:ext uri="{D42A27DB-BD31-4B8C-83A1-F6EECF244321}">
                <p14:modId val="687158154"/>
              </p:ext>
            </p:extLst>
          </p:nvPr>
        </p:nvGraphicFramePr>
        <p:xfrm>
          <a:off x="726875" y="1071988"/>
          <a:ext cx="7704050" cy="3213980"/>
        </p:xfrm>
        <a:graphic>
          <a:graphicData uri="http://schemas.openxmlformats.org/drawingml/2006/table">
            <a:tbl>
              <a:tblPr>
                <a:noFill/>
                <a:tableStyleId>{1858B03B-B4F3-4857-865B-DD344EB354F3}</a:tableStyleId>
              </a:tblPr>
              <a:tblGrid>
                <a:gridCol w="1361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8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44185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</a:rPr>
                        <a:t>ИНИЦИАТИВА</a:t>
                      </a:r>
                      <a:endParaRPr lang="en" sz="1100" b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</a:rPr>
                        <a:t>ЦЕЛЬ</a:t>
                      </a:r>
                      <a:endParaRPr lang="en" sz="1100" b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JAN</a:t>
                      </a:r>
                      <a:endParaRPr sz="1100" b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FEB</a:t>
                      </a:r>
                      <a:endParaRPr sz="1100" b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MAR</a:t>
                      </a:r>
                      <a:endParaRPr sz="1100" b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APR</a:t>
                      </a:r>
                      <a:endParaRPr sz="1100" b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MAY</a:t>
                      </a:r>
                      <a:endParaRPr sz="1100" b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JUN</a:t>
                      </a:r>
                      <a:endParaRPr sz="1100" b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JUL</a:t>
                      </a:r>
                      <a:endParaRPr sz="1100" b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AUG</a:t>
                      </a:r>
                      <a:endParaRPr sz="1100" b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SEP</a:t>
                      </a:r>
                      <a:endParaRPr sz="1100" b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OCT</a:t>
                      </a:r>
                      <a:endParaRPr sz="1100" b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NOV</a:t>
                      </a:r>
                      <a:endParaRPr sz="1100" b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Raleway"/>
                          <a:ea typeface="Raleway"/>
                          <a:cs typeface="Raleway"/>
                          <a:sym typeface="Raleway"/>
                        </a:rPr>
                        <a:t>DEC</a:t>
                      </a:r>
                      <a:endParaRPr sz="1100" b="1">
                        <a:solidFill>
                          <a:schemeClr val="dk1"/>
                        </a:solidFill>
                        <a:latin typeface="Raleway"/>
                        <a:ea typeface="Raleway"/>
                        <a:cs typeface="Raleway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Hanken Grotesk"/>
                          <a:ea typeface="Hanken Grotesk"/>
                          <a:cs typeface="Hanken Grotesk"/>
                        </a:rPr>
                        <a:t>Изучение</a:t>
                      </a:r>
                      <a:endParaRPr lang="en" sz="1000" err="1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0" i="0" u="none" strike="noStrike" noProof="0" err="1">
                          <a:solidFill>
                            <a:srgbClr val="F9FAFB"/>
                          </a:solidFill>
                          <a:highlight>
                            <a:srgbClr val="151517"/>
                          </a:highlight>
                        </a:rPr>
                        <a:t>Проанализировать и понять потребности целевой аудитории</a:t>
                      </a:r>
                      <a:endParaRPr lang="ru-RU" err="1"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Hanken Grotesk"/>
                        <a:ea typeface="Hanken Grotesk"/>
                        <a:cs typeface="Hanken Grotesk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Open Sans"/>
                        <a:ea typeface="Open Sans"/>
                        <a:cs typeface="Open Sans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1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Segoe UI</vt:lpstr>
      <vt:lpstr>Open Sans</vt:lpstr>
      <vt:lpstr>Office Theme</vt:lpstr>
      <vt:lpstr>КАРТА ЭТАПОВ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2026-07-08T12:43:16.233</cp:lastPrinted>
  <dcterms:created xsi:type="dcterms:W3CDTF">2026-07-08T19:43:16Z</dcterms:created>
  <dcterms:modified xsi:type="dcterms:W3CDTF">2026-07-08T19:43:17Z</dcterms:modified>
</cp:coreProperties>
</file>