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C7D5B20-C620-4F45-9805-87E3F1B942D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016BD5-424B-4972-B420-847B2C26526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F2CD4FE-E90E-46A7-9936-5E81A605A40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FC6FF22-02CD-43D5-BD71-B407A1D393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6B2C5704-88A9-414F-94AA-EAC6B23D77E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5908B32B-85C9-49EB-88B8-6E0AE2F22B4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F4544646-A04A-4DC4-958E-D486837F523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A44E1AB-E481-45A8-B7ED-B48BD9D056C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B65EE94-66C5-4410-89C8-8045AFDD466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B7B12AF-296B-4741-B126-34DABCCB7BF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4F1C8F8-6A20-4381-A6E4-EC6DDA7ABA3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59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33"/>
          <p:cNvSpPr/>
          <p:nvPr/>
        </p:nvSpPr>
        <p:spPr>
          <a:xfrm>
            <a:off x="4862065" y="1737588"/>
            <a:ext cx="345150" cy="344900"/>
          </a:xfrm>
          <a:custGeom>
            <a:rect l="l" t="t" r="r" b="b"/>
            <a:pathLst>
              <a:path w="13805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66" name="Google Shape;766;p33"/>
          <p:cNvSpPr/>
          <p:nvPr/>
        </p:nvSpPr>
        <p:spPr>
          <a:xfrm>
            <a:off x="1747457" y="1737475"/>
            <a:ext cx="345150" cy="345125"/>
          </a:xfrm>
          <a:custGeom>
            <a:rect l="l" t="t" r="r" b="b"/>
            <a:pathLst>
              <a:path w="13805" h="13805" extrusionOk="0">
                <a:moveTo>
                  <a:pt x="2547" y="808"/>
                </a:moveTo>
                <a:cubicBezTo>
                  <a:pt x="2991" y="808"/>
                  <a:pt x="3355" y="1170"/>
                  <a:pt x="3355" y="1616"/>
                </a:cubicBezTo>
                <a:cubicBezTo>
                  <a:pt x="3355" y="2059"/>
                  <a:pt x="2991" y="2421"/>
                  <a:pt x="2547" y="2421"/>
                </a:cubicBezTo>
                <a:cubicBezTo>
                  <a:pt x="2104" y="2421"/>
                  <a:pt x="1742" y="2059"/>
                  <a:pt x="1742" y="1616"/>
                </a:cubicBezTo>
                <a:cubicBezTo>
                  <a:pt x="1742" y="1170"/>
                  <a:pt x="2104" y="808"/>
                  <a:pt x="2547" y="808"/>
                </a:cubicBezTo>
                <a:close/>
                <a:moveTo>
                  <a:pt x="11233" y="808"/>
                </a:moveTo>
                <a:cubicBezTo>
                  <a:pt x="11676" y="808"/>
                  <a:pt x="12038" y="1170"/>
                  <a:pt x="12038" y="1616"/>
                </a:cubicBezTo>
                <a:cubicBezTo>
                  <a:pt x="12038" y="2059"/>
                  <a:pt x="11676" y="2421"/>
                  <a:pt x="11233" y="2421"/>
                </a:cubicBezTo>
                <a:cubicBezTo>
                  <a:pt x="10789" y="2421"/>
                  <a:pt x="10425" y="2059"/>
                  <a:pt x="10425" y="1616"/>
                </a:cubicBezTo>
                <a:cubicBezTo>
                  <a:pt x="10425" y="1170"/>
                  <a:pt x="10789" y="808"/>
                  <a:pt x="11233" y="808"/>
                </a:cubicBezTo>
                <a:close/>
                <a:moveTo>
                  <a:pt x="3097" y="3229"/>
                </a:moveTo>
                <a:cubicBezTo>
                  <a:pt x="3762" y="3229"/>
                  <a:pt x="4312" y="3776"/>
                  <a:pt x="4312" y="4444"/>
                </a:cubicBezTo>
                <a:lnTo>
                  <a:pt x="4312" y="4853"/>
                </a:lnTo>
                <a:lnTo>
                  <a:pt x="805" y="4853"/>
                </a:lnTo>
                <a:lnTo>
                  <a:pt x="805" y="4444"/>
                </a:lnTo>
                <a:cubicBezTo>
                  <a:pt x="805" y="3776"/>
                  <a:pt x="1355" y="3229"/>
                  <a:pt x="2023" y="3229"/>
                </a:cubicBezTo>
                <a:close/>
                <a:moveTo>
                  <a:pt x="11782" y="3229"/>
                </a:moveTo>
                <a:cubicBezTo>
                  <a:pt x="12447" y="3229"/>
                  <a:pt x="12997" y="3776"/>
                  <a:pt x="12997" y="4444"/>
                </a:cubicBezTo>
                <a:lnTo>
                  <a:pt x="12997" y="4853"/>
                </a:lnTo>
                <a:lnTo>
                  <a:pt x="9491" y="4853"/>
                </a:lnTo>
                <a:lnTo>
                  <a:pt x="9491" y="4444"/>
                </a:lnTo>
                <a:cubicBezTo>
                  <a:pt x="9491" y="3776"/>
                  <a:pt x="10029" y="3229"/>
                  <a:pt x="10705" y="3229"/>
                </a:cubicBezTo>
                <a:close/>
                <a:moveTo>
                  <a:pt x="6497" y="3229"/>
                </a:moveTo>
                <a:lnTo>
                  <a:pt x="6497" y="5473"/>
                </a:lnTo>
                <a:cubicBezTo>
                  <a:pt x="6006" y="5613"/>
                  <a:pt x="5611" y="5998"/>
                  <a:pt x="5470" y="6500"/>
                </a:cubicBezTo>
                <a:lnTo>
                  <a:pt x="2968" y="6500"/>
                </a:lnTo>
                <a:lnTo>
                  <a:pt x="2968" y="5658"/>
                </a:lnTo>
                <a:lnTo>
                  <a:pt x="4721" y="5658"/>
                </a:lnTo>
                <a:cubicBezTo>
                  <a:pt x="4943" y="5658"/>
                  <a:pt x="5120" y="5484"/>
                  <a:pt x="5120" y="5249"/>
                </a:cubicBezTo>
                <a:lnTo>
                  <a:pt x="5120" y="4444"/>
                </a:lnTo>
                <a:cubicBezTo>
                  <a:pt x="5120" y="3986"/>
                  <a:pt x="4968" y="3565"/>
                  <a:pt x="4710" y="3229"/>
                </a:cubicBezTo>
                <a:close/>
                <a:moveTo>
                  <a:pt x="9081" y="3229"/>
                </a:moveTo>
                <a:cubicBezTo>
                  <a:pt x="8837" y="3565"/>
                  <a:pt x="8685" y="3986"/>
                  <a:pt x="8685" y="4444"/>
                </a:cubicBezTo>
                <a:lnTo>
                  <a:pt x="8685" y="5249"/>
                </a:lnTo>
                <a:cubicBezTo>
                  <a:pt x="8685" y="5484"/>
                  <a:pt x="8859" y="5658"/>
                  <a:pt x="9081" y="5658"/>
                </a:cubicBezTo>
                <a:lnTo>
                  <a:pt x="10834" y="5658"/>
                </a:lnTo>
                <a:lnTo>
                  <a:pt x="10834" y="6500"/>
                </a:lnTo>
                <a:lnTo>
                  <a:pt x="8321" y="6500"/>
                </a:lnTo>
                <a:cubicBezTo>
                  <a:pt x="8180" y="5998"/>
                  <a:pt x="7796" y="5613"/>
                  <a:pt x="7305" y="5473"/>
                </a:cubicBezTo>
                <a:lnTo>
                  <a:pt x="7305" y="3229"/>
                </a:lnTo>
                <a:close/>
                <a:moveTo>
                  <a:pt x="6884" y="6231"/>
                </a:moveTo>
                <a:cubicBezTo>
                  <a:pt x="7257" y="6231"/>
                  <a:pt x="7563" y="6525"/>
                  <a:pt x="7563" y="6898"/>
                </a:cubicBezTo>
                <a:cubicBezTo>
                  <a:pt x="7563" y="7271"/>
                  <a:pt x="7257" y="7577"/>
                  <a:pt x="6884" y="7577"/>
                </a:cubicBezTo>
                <a:cubicBezTo>
                  <a:pt x="6522" y="7577"/>
                  <a:pt x="6217" y="7271"/>
                  <a:pt x="6217" y="6898"/>
                </a:cubicBezTo>
                <a:cubicBezTo>
                  <a:pt x="6217" y="6525"/>
                  <a:pt x="6522" y="6231"/>
                  <a:pt x="6884" y="6231"/>
                </a:cubicBezTo>
                <a:close/>
                <a:moveTo>
                  <a:pt x="2547" y="8943"/>
                </a:moveTo>
                <a:cubicBezTo>
                  <a:pt x="2991" y="8943"/>
                  <a:pt x="3355" y="9316"/>
                  <a:pt x="3355" y="9762"/>
                </a:cubicBezTo>
                <a:cubicBezTo>
                  <a:pt x="3355" y="10206"/>
                  <a:pt x="2991" y="10568"/>
                  <a:pt x="2547" y="10568"/>
                </a:cubicBezTo>
                <a:cubicBezTo>
                  <a:pt x="2104" y="10568"/>
                  <a:pt x="1742" y="10206"/>
                  <a:pt x="1742" y="9762"/>
                </a:cubicBezTo>
                <a:cubicBezTo>
                  <a:pt x="1742" y="9316"/>
                  <a:pt x="2104" y="8943"/>
                  <a:pt x="2547" y="8943"/>
                </a:cubicBezTo>
                <a:close/>
                <a:moveTo>
                  <a:pt x="5470" y="7308"/>
                </a:moveTo>
                <a:cubicBezTo>
                  <a:pt x="5611" y="7799"/>
                  <a:pt x="6006" y="8183"/>
                  <a:pt x="6497" y="8323"/>
                </a:cubicBezTo>
                <a:lnTo>
                  <a:pt x="6497" y="10568"/>
                </a:lnTo>
                <a:lnTo>
                  <a:pt x="3961" y="10568"/>
                </a:lnTo>
                <a:cubicBezTo>
                  <a:pt x="4101" y="10323"/>
                  <a:pt x="4172" y="10054"/>
                  <a:pt x="4172" y="9762"/>
                </a:cubicBezTo>
                <a:cubicBezTo>
                  <a:pt x="4172" y="9002"/>
                  <a:pt x="3658" y="8371"/>
                  <a:pt x="2968" y="8194"/>
                </a:cubicBezTo>
                <a:lnTo>
                  <a:pt x="2968" y="7308"/>
                </a:lnTo>
                <a:close/>
                <a:moveTo>
                  <a:pt x="10834" y="7308"/>
                </a:moveTo>
                <a:lnTo>
                  <a:pt x="10834" y="8194"/>
                </a:lnTo>
                <a:cubicBezTo>
                  <a:pt x="10133" y="8371"/>
                  <a:pt x="9620" y="9002"/>
                  <a:pt x="9620" y="9762"/>
                </a:cubicBezTo>
                <a:cubicBezTo>
                  <a:pt x="9620" y="10054"/>
                  <a:pt x="9701" y="10323"/>
                  <a:pt x="9841" y="10568"/>
                </a:cubicBezTo>
                <a:lnTo>
                  <a:pt x="7305" y="10568"/>
                </a:lnTo>
                <a:lnTo>
                  <a:pt x="7305" y="8323"/>
                </a:lnTo>
                <a:cubicBezTo>
                  <a:pt x="7796" y="8183"/>
                  <a:pt x="8180" y="7799"/>
                  <a:pt x="8321" y="7308"/>
                </a:cubicBezTo>
                <a:close/>
                <a:moveTo>
                  <a:pt x="11233" y="8943"/>
                </a:moveTo>
                <a:cubicBezTo>
                  <a:pt x="11676" y="8943"/>
                  <a:pt x="12038" y="9316"/>
                  <a:pt x="12038" y="9762"/>
                </a:cubicBezTo>
                <a:cubicBezTo>
                  <a:pt x="12038" y="10206"/>
                  <a:pt x="11676" y="10568"/>
                  <a:pt x="11233" y="10568"/>
                </a:cubicBezTo>
                <a:cubicBezTo>
                  <a:pt x="10789" y="10568"/>
                  <a:pt x="10425" y="10206"/>
                  <a:pt x="10425" y="9762"/>
                </a:cubicBezTo>
                <a:cubicBezTo>
                  <a:pt x="10425" y="9316"/>
                  <a:pt x="10789" y="8943"/>
                  <a:pt x="11233" y="8943"/>
                </a:cubicBezTo>
                <a:close/>
                <a:moveTo>
                  <a:pt x="3097" y="11375"/>
                </a:moveTo>
                <a:cubicBezTo>
                  <a:pt x="3762" y="11375"/>
                  <a:pt x="4312" y="11925"/>
                  <a:pt x="4312" y="12590"/>
                </a:cubicBezTo>
                <a:lnTo>
                  <a:pt x="4312" y="12989"/>
                </a:lnTo>
                <a:lnTo>
                  <a:pt x="805" y="12989"/>
                </a:lnTo>
                <a:lnTo>
                  <a:pt x="805" y="12590"/>
                </a:lnTo>
                <a:cubicBezTo>
                  <a:pt x="805" y="11925"/>
                  <a:pt x="1355" y="11375"/>
                  <a:pt x="2023" y="11375"/>
                </a:cubicBezTo>
                <a:close/>
                <a:moveTo>
                  <a:pt x="11782" y="11375"/>
                </a:moveTo>
                <a:cubicBezTo>
                  <a:pt x="12447" y="11375"/>
                  <a:pt x="12997" y="11925"/>
                  <a:pt x="12997" y="12590"/>
                </a:cubicBezTo>
                <a:lnTo>
                  <a:pt x="12997" y="12989"/>
                </a:lnTo>
                <a:lnTo>
                  <a:pt x="9491" y="12989"/>
                </a:lnTo>
                <a:lnTo>
                  <a:pt x="9491" y="12590"/>
                </a:lnTo>
                <a:cubicBezTo>
                  <a:pt x="9491" y="11925"/>
                  <a:pt x="10029" y="11375"/>
                  <a:pt x="10705" y="11375"/>
                </a:cubicBezTo>
                <a:close/>
                <a:moveTo>
                  <a:pt x="2545" y="1"/>
                </a:moveTo>
                <a:cubicBezTo>
                  <a:pt x="1660" y="1"/>
                  <a:pt x="945" y="732"/>
                  <a:pt x="945" y="1616"/>
                </a:cubicBezTo>
                <a:cubicBezTo>
                  <a:pt x="945" y="1978"/>
                  <a:pt x="1063" y="2303"/>
                  <a:pt x="1263" y="2572"/>
                </a:cubicBezTo>
                <a:cubicBezTo>
                  <a:pt x="513" y="2878"/>
                  <a:pt x="0" y="3602"/>
                  <a:pt x="0" y="4444"/>
                </a:cubicBezTo>
                <a:lnTo>
                  <a:pt x="0" y="5249"/>
                </a:lnTo>
                <a:cubicBezTo>
                  <a:pt x="0" y="5484"/>
                  <a:pt x="174" y="5658"/>
                  <a:pt x="396" y="5658"/>
                </a:cubicBezTo>
                <a:lnTo>
                  <a:pt x="2149" y="5658"/>
                </a:lnTo>
                <a:lnTo>
                  <a:pt x="2149" y="8194"/>
                </a:lnTo>
                <a:cubicBezTo>
                  <a:pt x="1462" y="8371"/>
                  <a:pt x="945" y="9002"/>
                  <a:pt x="945" y="9762"/>
                </a:cubicBezTo>
                <a:cubicBezTo>
                  <a:pt x="945" y="10113"/>
                  <a:pt x="1063" y="10453"/>
                  <a:pt x="1263" y="10719"/>
                </a:cubicBezTo>
                <a:cubicBezTo>
                  <a:pt x="513" y="11025"/>
                  <a:pt x="0" y="11749"/>
                  <a:pt x="0" y="12590"/>
                </a:cubicBezTo>
                <a:lnTo>
                  <a:pt x="0" y="13398"/>
                </a:lnTo>
                <a:cubicBezTo>
                  <a:pt x="0" y="13620"/>
                  <a:pt x="174" y="13805"/>
                  <a:pt x="396" y="13805"/>
                </a:cubicBezTo>
                <a:lnTo>
                  <a:pt x="4721" y="13805"/>
                </a:lnTo>
                <a:cubicBezTo>
                  <a:pt x="4943" y="13805"/>
                  <a:pt x="5120" y="13620"/>
                  <a:pt x="5120" y="13398"/>
                </a:cubicBezTo>
                <a:lnTo>
                  <a:pt x="5120" y="12590"/>
                </a:lnTo>
                <a:cubicBezTo>
                  <a:pt x="5120" y="12136"/>
                  <a:pt x="4968" y="11715"/>
                  <a:pt x="4710" y="11375"/>
                </a:cubicBezTo>
                <a:lnTo>
                  <a:pt x="9081" y="11375"/>
                </a:lnTo>
                <a:cubicBezTo>
                  <a:pt x="8837" y="11715"/>
                  <a:pt x="8685" y="12136"/>
                  <a:pt x="8685" y="12590"/>
                </a:cubicBezTo>
                <a:lnTo>
                  <a:pt x="8685" y="13398"/>
                </a:lnTo>
                <a:cubicBezTo>
                  <a:pt x="8685" y="13620"/>
                  <a:pt x="8859" y="13805"/>
                  <a:pt x="9081" y="13805"/>
                </a:cubicBezTo>
                <a:lnTo>
                  <a:pt x="13396" y="13805"/>
                </a:lnTo>
                <a:cubicBezTo>
                  <a:pt x="13617" y="13805"/>
                  <a:pt x="13805" y="13620"/>
                  <a:pt x="13805" y="13398"/>
                </a:cubicBezTo>
                <a:lnTo>
                  <a:pt x="13805" y="12590"/>
                </a:lnTo>
                <a:cubicBezTo>
                  <a:pt x="13805" y="11749"/>
                  <a:pt x="13278" y="11025"/>
                  <a:pt x="12543" y="10719"/>
                </a:cubicBezTo>
                <a:cubicBezTo>
                  <a:pt x="12739" y="10453"/>
                  <a:pt x="12857" y="10113"/>
                  <a:pt x="12857" y="9762"/>
                </a:cubicBezTo>
                <a:cubicBezTo>
                  <a:pt x="12857" y="9002"/>
                  <a:pt x="12344" y="8371"/>
                  <a:pt x="11642" y="8194"/>
                </a:cubicBezTo>
                <a:lnTo>
                  <a:pt x="11642" y="5658"/>
                </a:lnTo>
                <a:lnTo>
                  <a:pt x="13396" y="5658"/>
                </a:lnTo>
                <a:cubicBezTo>
                  <a:pt x="13617" y="5658"/>
                  <a:pt x="13805" y="5484"/>
                  <a:pt x="13805" y="5249"/>
                </a:cubicBezTo>
                <a:lnTo>
                  <a:pt x="13805" y="4444"/>
                </a:lnTo>
                <a:cubicBezTo>
                  <a:pt x="13805" y="3602"/>
                  <a:pt x="13278" y="2878"/>
                  <a:pt x="12543" y="2572"/>
                </a:cubicBezTo>
                <a:cubicBezTo>
                  <a:pt x="12753" y="2281"/>
                  <a:pt x="12879" y="1919"/>
                  <a:pt x="12857" y="1532"/>
                </a:cubicBezTo>
                <a:cubicBezTo>
                  <a:pt x="12809" y="679"/>
                  <a:pt x="12108" y="14"/>
                  <a:pt x="11266" y="3"/>
                </a:cubicBezTo>
                <a:cubicBezTo>
                  <a:pt x="11258" y="3"/>
                  <a:pt x="11249" y="3"/>
                  <a:pt x="11240" y="3"/>
                </a:cubicBezTo>
                <a:cubicBezTo>
                  <a:pt x="10341" y="3"/>
                  <a:pt x="9620" y="724"/>
                  <a:pt x="9620" y="1616"/>
                </a:cubicBezTo>
                <a:cubicBezTo>
                  <a:pt x="9620" y="1908"/>
                  <a:pt x="9701" y="2188"/>
                  <a:pt x="9841" y="2421"/>
                </a:cubicBezTo>
                <a:lnTo>
                  <a:pt x="3961" y="2421"/>
                </a:lnTo>
                <a:cubicBezTo>
                  <a:pt x="4113" y="2163"/>
                  <a:pt x="4183" y="1860"/>
                  <a:pt x="4172" y="1546"/>
                </a:cubicBezTo>
                <a:cubicBezTo>
                  <a:pt x="4138" y="715"/>
                  <a:pt x="3459" y="36"/>
                  <a:pt x="2629" y="3"/>
                </a:cubicBezTo>
                <a:cubicBezTo>
                  <a:pt x="2601" y="1"/>
                  <a:pt x="2573" y="1"/>
                  <a:pt x="254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EB0F0-8332-1B4B-F0BC-7467378F561A}"/>
              </a:ext>
            </a:extLst>
          </p:cNvPr>
          <p:cNvSpPr txBox="1"/>
          <p:nvPr/>
        </p:nvSpPr>
        <p:spPr>
          <a:xfrm>
            <a:off x="681270" y="522261"/>
            <a:ext cx="18970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2400" b="1">
                <a:solidFill>
                  <a:schemeClr val="tx1"/>
                </a:solidFill>
              </a:rPr>
              <a:t>ВВЕДЕНИЕ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2EDBA-1511-F58C-AD30-68FDB6D06DF6}"/>
              </a:ext>
            </a:extLst>
          </p:cNvPr>
          <p:cNvSpPr txBox="1"/>
          <p:nvPr/>
        </p:nvSpPr>
        <p:spPr>
          <a:xfrm>
            <a:off x="1669851" y="2114698"/>
            <a:ext cx="208975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b="1">
                <a:solidFill>
                  <a:schemeClr val="tx1"/>
                </a:solidFill>
              </a:rPr>
              <a:t>НАША КОМПАНИЯ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B58FF-B76B-768E-6259-C3254BB981D2}"/>
              </a:ext>
            </a:extLst>
          </p:cNvPr>
          <p:cNvSpPr txBox="1"/>
          <p:nvPr/>
        </p:nvSpPr>
        <p:spPr>
          <a:xfrm>
            <a:off x="4803541" y="2077812"/>
            <a:ext cx="15417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b="1">
                <a:solidFill>
                  <a:schemeClr val="tx1"/>
                </a:solidFill>
              </a:rPr>
              <a:t>НАША ИДЕЯ</a:t>
            </a:r>
            <a:r>
              <a:rPr lang="ru-RU" sz="1800" b="1">
                <a:solidFill>
                  <a:schemeClr val="tx1"/>
                </a:solidFill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ABD35-728A-FE33-B588-FA6877B952CB}"/>
              </a:ext>
            </a:extLst>
          </p:cNvPr>
          <p:cNvSpPr txBox="1"/>
          <p:nvPr/>
        </p:nvSpPr>
        <p:spPr>
          <a:xfrm>
            <a:off x="1668497" y="2449949"/>
            <a:ext cx="2608545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tx1"/>
                </a:solidFill>
              </a:rPr>
              <a:t>Презентация вашей компании в pitch deck должна включать краткий обзор того, кто вы и чем занимаетесь. Она также должна включать краткое описание того, почему ваш продукт или услуга уникальны и какую ценность они представляют для клиентов</a:t>
            </a:r>
            <a:endParaRPr lang="ru-RU" sz="1200">
              <a:solidFill>
                <a:schemeClr val="tx1"/>
              </a:solidFill>
            </a:endParaRPr>
          </a:p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17CB5-445E-98D0-6D78-464EBF08E3DF}"/>
              </a:ext>
            </a:extLst>
          </p:cNvPr>
          <p:cNvSpPr txBox="1"/>
          <p:nvPr/>
        </p:nvSpPr>
        <p:spPr>
          <a:xfrm>
            <a:off x="4804835" y="2449949"/>
            <a:ext cx="2671841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tx1"/>
                </a:solidFill>
              </a:rPr>
              <a:t>Раздел “наша идея” должен включать в себя описание вашего продукта/услуги, как они работают и в чем заключается потребительская ценность. Вы также должны рассказать о рыночных возможностях вашего продукта/услуги</a:t>
            </a:r>
            <a:endParaRPr lang="ru-RU" sz="1200">
              <a:solidFill>
                <a:schemeClr val="tx1"/>
              </a:solidFill>
            </a:endParaRPr>
          </a:p>
          <a:p>
            <a:endParaRPr lang="ru-RU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5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2026-08-02T20:29:33.280</cp:lastPrinted>
  <dcterms:created xsi:type="dcterms:W3CDTF">2026-08-02T20:29:33Z</dcterms:created>
  <dcterms:modified xsi:type="dcterms:W3CDTF">2026-08-02T20:29:33Z</dcterms:modified>
</cp:coreProperties>
</file>