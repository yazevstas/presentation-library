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140"/>
        <p:cNvGrpSpPr/>
        <p:nvPr/>
      </p:nvGrpSpPr>
      <p:grpSpPr>
        <a:xfrm>
          <a:off x="0" y="0"/>
          <a:ext cx="0" cy="0"/>
        </a:xfrm>
      </p:grpSpPr>
      <p:sp>
        <p:nvSpPr>
          <p:cNvPr id="1141" name="Google Shape;1141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F3F42E-AA5E-4C6A-99D7-EB71FA087FC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32BEC5A-5A58-4FDD-A234-235C517B9B4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C964C28-A412-4DFD-905D-89271B24254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04D7938-A69B-4DCA-82E7-2493802C398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BB291F98-0B74-4880-9A46-9D56EF2A7FD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EDD49EC-9280-4408-B05D-1717A4F5F3F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D7E7010-383E-4E47-B7D9-A31C3DAFE7E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27A233B-6ED5-446A-965A-BD0D973B9FB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7C591C6-B82E-40A5-9D47-5110B6BE60D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B206B5-3D42-491E-847C-F1A3004A920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5904675-0F5C-425C-A75E-D2A1FAED8A2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1143"/>
        <p:cNvGrpSpPr/>
        <p:nvPr/>
      </p:nvGrpSpPr>
      <p:grpSpPr>
        <a:xfrm>
          <a:off x="0" y="0"/>
          <a:ext cx="0" cy="0"/>
        </a:xfrm>
      </p:grpSpPr>
      <p:sp>
        <p:nvSpPr>
          <p:cNvPr id="1144" name="Google Shape;1144;p44"/>
          <p:cNvSpPr/>
          <p:nvPr/>
        </p:nvSpPr>
        <p:spPr>
          <a:xfrm>
            <a:off x="1018375" y="1806425"/>
            <a:ext cx="715800" cy="269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5" name="Google Shape;1145;p44"/>
          <p:cNvSpPr/>
          <p:nvPr/>
        </p:nvSpPr>
        <p:spPr>
          <a:xfrm>
            <a:off x="1822450" y="2590650"/>
            <a:ext cx="715800" cy="19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6" name="Google Shape;1146;p44"/>
          <p:cNvSpPr/>
          <p:nvPr/>
        </p:nvSpPr>
        <p:spPr>
          <a:xfrm>
            <a:off x="2626525" y="3656425"/>
            <a:ext cx="715800" cy="8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8" name="Google Shape;1148;p44"/>
          <p:cNvSpPr txBox="1"/>
          <p:nvPr/>
        </p:nvSpPr>
        <p:spPr>
          <a:xfrm>
            <a:off x="1018375" y="1252188"/>
            <a:ext cx="126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2400" b="1">
                <a:solidFill>
                  <a:schemeClr val="dk1"/>
                </a:solidFill>
                <a:ea typeface="Raleway"/>
                <a:sym typeface="Raleway"/>
              </a:rPr>
              <a:t>$100M</a:t>
            </a:r>
            <a:endParaRPr lang="ru-RU" sz="2400" b="1">
              <a:solidFill>
                <a:schemeClr val="dk1"/>
              </a:solidFill>
              <a:ea typeface="Raleway"/>
            </a:endParaRPr>
          </a:p>
        </p:txBody>
      </p:sp>
      <p:sp>
        <p:nvSpPr>
          <p:cNvPr id="1149" name="Google Shape;1149;p44"/>
          <p:cNvSpPr txBox="1"/>
          <p:nvPr/>
        </p:nvSpPr>
        <p:spPr>
          <a:xfrm>
            <a:off x="1822450" y="2040750"/>
            <a:ext cx="126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2400" b="1">
                <a:solidFill>
                  <a:schemeClr val="lt1"/>
                </a:solidFill>
                <a:ea typeface="Raleway"/>
                <a:sym typeface="Raleway"/>
              </a:rPr>
              <a:t>$20M</a:t>
            </a:r>
            <a:endParaRPr sz="2400" b="1">
              <a:solidFill>
                <a:schemeClr val="lt1"/>
              </a:solidFill>
              <a:ea typeface="Raleway"/>
              <a:sym typeface="Raleway"/>
            </a:endParaRPr>
          </a:p>
        </p:txBody>
      </p:sp>
      <p:sp>
        <p:nvSpPr>
          <p:cNvPr id="1150" name="Google Shape;1150;p44"/>
          <p:cNvSpPr txBox="1"/>
          <p:nvPr/>
        </p:nvSpPr>
        <p:spPr>
          <a:xfrm>
            <a:off x="2626525" y="3102325"/>
            <a:ext cx="126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2400" b="1">
                <a:solidFill>
                  <a:schemeClr val="accent1"/>
                </a:solidFill>
                <a:ea typeface="Raleway"/>
                <a:sym typeface="Raleway"/>
              </a:rPr>
              <a:t>$5M</a:t>
            </a:r>
            <a:endParaRPr lang="ru-RU" sz="2400" b="1">
              <a:solidFill>
                <a:schemeClr val="accent1"/>
              </a:solidFill>
              <a:ea typeface="Raleway"/>
            </a:endParaRPr>
          </a:p>
        </p:txBody>
      </p:sp>
      <p:sp>
        <p:nvSpPr>
          <p:cNvPr id="1151" name="Google Shape;1151;p44"/>
          <p:cNvSpPr/>
          <p:nvPr/>
        </p:nvSpPr>
        <p:spPr>
          <a:xfrm>
            <a:off x="4254550" y="1192392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2" name="Google Shape;1152;p44"/>
          <p:cNvSpPr txBox="1"/>
          <p:nvPr/>
        </p:nvSpPr>
        <p:spPr>
          <a:xfrm>
            <a:off x="4840100" y="1116192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dk1"/>
                </a:solidFill>
                <a:ea typeface="Raleway Black"/>
              </a:rPr>
              <a:t>ВНЕШНИЙ КРУГ</a:t>
            </a:r>
          </a:p>
        </p:txBody>
      </p:sp>
      <p:sp>
        <p:nvSpPr>
          <p:cNvPr id="1153" name="Google Shape;1153;p44"/>
          <p:cNvSpPr txBox="1"/>
          <p:nvPr/>
        </p:nvSpPr>
        <p:spPr>
          <a:xfrm>
            <a:off x="4840100" y="1411445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dk1"/>
                </a:solidFill>
                <a:ea typeface="Hanken Grotesk"/>
                <a:sym typeface="Hanken Grotesk"/>
              </a:rPr>
              <a:t>Укажите общий объем рынка, который представляет всю потенциальную клиентскую базу для данного продукта или услуги</a:t>
            </a:r>
            <a:endParaRPr lang="en" sz="1200">
              <a:solidFill>
                <a:schemeClr val="dk1"/>
              </a:solidFill>
            </a:endParaRPr>
          </a:p>
        </p:txBody>
      </p:sp>
      <p:sp>
        <p:nvSpPr>
          <p:cNvPr id="1154" name="Google Shape;1154;p44"/>
          <p:cNvSpPr txBox="1"/>
          <p:nvPr/>
        </p:nvSpPr>
        <p:spPr>
          <a:xfrm>
            <a:off x="4840100" y="2295409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dk1"/>
                </a:solidFill>
                <a:ea typeface="Raleway Black"/>
              </a:rPr>
              <a:t>СРЕДНИЙ КРУГ</a:t>
            </a:r>
          </a:p>
        </p:txBody>
      </p:sp>
      <p:sp>
        <p:nvSpPr>
          <p:cNvPr id="1155" name="Google Shape;1155;p44"/>
          <p:cNvSpPr txBox="1"/>
          <p:nvPr/>
        </p:nvSpPr>
        <p:spPr>
          <a:xfrm>
            <a:off x="4840100" y="2590656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dk1"/>
                </a:solidFill>
                <a:ea typeface="Hanken Grotesk"/>
                <a:sym typeface="Hanken Grotesk"/>
              </a:rPr>
              <a:t>Определите целевой рынок для продукта или услуги, который может составлять часть общего рынка.</a:t>
            </a:r>
            <a:br>
              <a:rPr lang="en" sz="1200">
                <a:latin typeface="Hanken Grotesk"/>
                <a:ea typeface="Hanken Grotesk"/>
              </a:rPr>
            </a:br>
            <a:endParaRPr lang="en" sz="1200">
              <a:solidFill>
                <a:schemeClr val="dk1"/>
              </a:solidFill>
              <a:latin typeface="Hanken Grotesk"/>
            </a:endParaRPr>
          </a:p>
        </p:txBody>
      </p:sp>
      <p:sp>
        <p:nvSpPr>
          <p:cNvPr id="1156" name="Google Shape;1156;p44"/>
          <p:cNvSpPr txBox="1"/>
          <p:nvPr/>
        </p:nvSpPr>
        <p:spPr>
          <a:xfrm>
            <a:off x="4840100" y="3474627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dk1"/>
                </a:solidFill>
                <a:ea typeface="Raleway Black"/>
              </a:rPr>
              <a:t>ВНУТРЕННИЙ КРУГ</a:t>
            </a:r>
          </a:p>
        </p:txBody>
      </p:sp>
      <p:sp>
        <p:nvSpPr>
          <p:cNvPr id="1157" name="Google Shape;1157;p44"/>
          <p:cNvSpPr txBox="1"/>
          <p:nvPr/>
        </p:nvSpPr>
        <p:spPr>
          <a:xfrm>
            <a:off x="4840100" y="3769867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dk1"/>
                </a:solidFill>
                <a:ea typeface="Hanken Grotesk"/>
                <a:sym typeface="Hanken Grotesk"/>
              </a:rPr>
              <a:t>Укажите текущий размер рынка, который представляет собой ту часть целевого рынка, которую компания успешно захватила</a:t>
            </a:r>
            <a:endParaRPr lang="ru-RU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58" name="Google Shape;1158;p44"/>
          <p:cNvSpPr/>
          <p:nvPr/>
        </p:nvSpPr>
        <p:spPr>
          <a:xfrm>
            <a:off x="4254550" y="2373592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9" name="Google Shape;1159;p44"/>
          <p:cNvSpPr/>
          <p:nvPr/>
        </p:nvSpPr>
        <p:spPr>
          <a:xfrm>
            <a:off x="4254550" y="3554792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60" name="Google Shape;1160;p44"/>
          <p:cNvGrpSpPr/>
          <p:nvPr/>
        </p:nvGrpSpPr>
        <p:grpSpPr>
          <a:xfrm>
            <a:off x="4356313" y="3656425"/>
            <a:ext cx="345125" cy="345150"/>
            <a:chOff x="997838" y="3797375"/>
            <a:chExt cx="345125" cy="345150"/>
          </a:xfrm>
        </p:grpSpPr>
        <p:sp>
          <p:nvSpPr>
            <p:cNvPr id="1161" name="Google Shape;1161;p44"/>
            <p:cNvSpPr/>
            <p:nvPr/>
          </p:nvSpPr>
          <p:spPr>
            <a:xfrm>
              <a:off x="997838" y="3797375"/>
              <a:ext cx="345125" cy="345150"/>
            </a:xfrm>
            <a:custGeom>
              <a:rect l="l" t="t" r="r" b="b"/>
              <a:pathLst>
                <a:path w="13805" h="13805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2" name="Google Shape;1162;p44"/>
            <p:cNvSpPr/>
            <p:nvPr/>
          </p:nvSpPr>
          <p:spPr>
            <a:xfrm>
              <a:off x="1259638" y="3810725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3" name="Google Shape;1163;p44"/>
            <p:cNvSpPr/>
            <p:nvPr/>
          </p:nvSpPr>
          <p:spPr>
            <a:xfrm>
              <a:off x="1259638" y="3908500"/>
              <a:ext cx="40700" cy="30325"/>
            </a:xfrm>
            <a:custGeom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4" name="Google Shape;1164;p44"/>
            <p:cNvSpPr/>
            <p:nvPr/>
          </p:nvSpPr>
          <p:spPr>
            <a:xfrm>
              <a:off x="1039913" y="381072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5" name="Google Shape;1165;p44"/>
            <p:cNvSpPr/>
            <p:nvPr/>
          </p:nvSpPr>
          <p:spPr>
            <a:xfrm>
              <a:off x="1039913" y="3908500"/>
              <a:ext cx="40625" cy="30325"/>
            </a:xfrm>
            <a:custGeom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66" name="Google Shape;1166;p44"/>
          <p:cNvGrpSpPr/>
          <p:nvPr/>
        </p:nvGrpSpPr>
        <p:grpSpPr>
          <a:xfrm>
            <a:off x="4376150" y="2475363"/>
            <a:ext cx="305475" cy="345175"/>
            <a:chOff x="1017663" y="3243950"/>
            <a:chExt cx="305475" cy="345175"/>
          </a:xfrm>
        </p:grpSpPr>
        <p:sp>
          <p:nvSpPr>
            <p:cNvPr id="1167" name="Google Shape;1167;p44"/>
            <p:cNvSpPr/>
            <p:nvPr/>
          </p:nvSpPr>
          <p:spPr>
            <a:xfrm>
              <a:off x="1234238" y="3487950"/>
              <a:ext cx="40350" cy="20500"/>
            </a:xfrm>
            <a:custGeom>
              <a:rect l="l" t="t" r="r" b="b"/>
              <a:pathLst>
                <a:path w="1613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8" name="Google Shape;1168;p44"/>
            <p:cNvSpPr/>
            <p:nvPr/>
          </p:nvSpPr>
          <p:spPr>
            <a:xfrm>
              <a:off x="1065638" y="3487950"/>
              <a:ext cx="40350" cy="20500"/>
            </a:xfrm>
            <a:custGeom>
              <a:rect l="l" t="t" r="r" b="b"/>
              <a:pathLst>
                <a:path w="1613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9" name="Google Shape;1169;p44"/>
            <p:cNvSpPr/>
            <p:nvPr/>
          </p:nvSpPr>
          <p:spPr>
            <a:xfrm>
              <a:off x="1017663" y="3243950"/>
              <a:ext cx="305475" cy="345175"/>
            </a:xfrm>
            <a:custGeom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70" name="Google Shape;1170;p44"/>
          <p:cNvGrpSpPr/>
          <p:nvPr/>
        </p:nvGrpSpPr>
        <p:grpSpPr>
          <a:xfrm>
            <a:off x="4356325" y="1294038"/>
            <a:ext cx="345125" cy="345425"/>
            <a:chOff x="997838" y="2690475"/>
            <a:chExt cx="345125" cy="345425"/>
          </a:xfrm>
        </p:grpSpPr>
        <p:sp>
          <p:nvSpPr>
            <p:cNvPr id="1171" name="Google Shape;1171;p44"/>
            <p:cNvSpPr/>
            <p:nvPr/>
          </p:nvSpPr>
          <p:spPr>
            <a:xfrm>
              <a:off x="1267563" y="2758300"/>
              <a:ext cx="41550" cy="20150"/>
            </a:xfrm>
            <a:custGeom>
              <a:rect l="l" t="t" r="r" b="b"/>
              <a:pathLst>
                <a:path w="1662" h="805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72" name="Google Shape;1172;p44"/>
            <p:cNvSpPr/>
            <p:nvPr/>
          </p:nvSpPr>
          <p:spPr>
            <a:xfrm>
              <a:off x="1259988" y="270440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73" name="Google Shape;1173;p44"/>
            <p:cNvSpPr/>
            <p:nvPr/>
          </p:nvSpPr>
          <p:spPr>
            <a:xfrm>
              <a:off x="1259988" y="28021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74" name="Google Shape;1174;p44"/>
            <p:cNvSpPr/>
            <p:nvPr/>
          </p:nvSpPr>
          <p:spPr>
            <a:xfrm>
              <a:off x="1031688" y="2758300"/>
              <a:ext cx="41550" cy="20150"/>
            </a:xfrm>
            <a:custGeom>
              <a:rect l="l" t="t" r="r" b="b"/>
              <a:pathLst>
                <a:path w="1662" h="805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75" name="Google Shape;1175;p44"/>
            <p:cNvSpPr/>
            <p:nvPr/>
          </p:nvSpPr>
          <p:spPr>
            <a:xfrm>
              <a:off x="1040188" y="270440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76" name="Google Shape;1176;p44"/>
            <p:cNvSpPr/>
            <p:nvPr/>
          </p:nvSpPr>
          <p:spPr>
            <a:xfrm>
              <a:off x="1040188" y="28021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77" name="Google Shape;1177;p44"/>
            <p:cNvSpPr/>
            <p:nvPr/>
          </p:nvSpPr>
          <p:spPr>
            <a:xfrm>
              <a:off x="997838" y="2690475"/>
              <a:ext cx="345125" cy="345425"/>
            </a:xfrm>
            <a:custGeom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cxnSp>
        <p:nvCxnSpPr>
          <p:cNvPr id="1178" name="Google Shape;1178;p44"/>
          <p:cNvCxnSpPr>
            <a:stCxn id="1151" idx="1"/>
          </p:cNvCxnSpPr>
          <p:nvPr/>
        </p:nvCxnSpPr>
        <p:spPr>
          <a:xfrm flipH="1">
            <a:off x="1746250" y="1466742"/>
            <a:ext cx="2508300" cy="552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79" name="Google Shape;1179;p44"/>
          <p:cNvCxnSpPr>
            <a:stCxn id="1158" idx="1"/>
          </p:cNvCxnSpPr>
          <p:nvPr/>
        </p:nvCxnSpPr>
        <p:spPr>
          <a:xfrm flipH="1">
            <a:off x="2552950" y="2647942"/>
            <a:ext cx="1701600" cy="183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80" name="Google Shape;1180;p44"/>
          <p:cNvCxnSpPr>
            <a:stCxn id="1159" idx="1"/>
            <a:endCxn id="1146" idx="3"/>
          </p:cNvCxnSpPr>
          <p:nvPr/>
        </p:nvCxnSpPr>
        <p:spPr>
          <a:xfrm flipH="1">
            <a:off x="3342250" y="3829142"/>
            <a:ext cx="912300" cy="2490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E53F52A-3DAC-30BA-8629-DF911C76573B}"/>
              </a:ext>
            </a:extLst>
          </p:cNvPr>
          <p:cNvSpPr txBox="1"/>
          <p:nvPr/>
        </p:nvSpPr>
        <p:spPr>
          <a:xfrm>
            <a:off x="818864" y="511791"/>
            <a:ext cx="36166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ОБЗОР РЫНКА ТРУДА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10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2026-08-02T20:29:42.450</cp:lastPrinted>
  <dcterms:created xsi:type="dcterms:W3CDTF">2026-08-02T20:29:42Z</dcterms:created>
  <dcterms:modified xsi:type="dcterms:W3CDTF">2026-08-02T20:29:42Z</dcterms:modified>
</cp:coreProperties>
</file>