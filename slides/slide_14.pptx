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40"/>
        <p:cNvGrpSpPr/>
        <p:nvPr/>
      </p:nvGrpSpPr>
      <p:grpSpPr>
        <a:xfrm>
          <a:off x="0" y="0"/>
          <a:ext cx="0" cy="0"/>
        </a:xfrm>
      </p:grpSpPr>
      <p:sp>
        <p:nvSpPr>
          <p:cNvPr id="1141" name="Google Shape;1141;g216241d4a31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2" name="Google Shape;1142;g216241d4a31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E92AAF5-089B-4711-A89E-38031463972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6D48E95-3A62-4781-A917-CD52604A5F0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EC45042-638E-49A0-899C-205EA7C4F73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ECE864A-6646-4475-B153-9C718C75731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C0912E1F-B91E-43E2-B61C-FF32041F8C9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28CF981-D213-4761-833A-9E5DD65843B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6CA48625-7B81-42D7-AA0B-8707ABA42F1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4E5D49F-823D-43E5-A5AB-AC7B86AACBF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6687AC9-3C59-421A-9943-295F85AF3C6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A6BD0DD-9EA1-49EA-B415-D2C1BCF9474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DD6D387-3CA5-4B54-8389-82DFF511B15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43"/>
        <p:cNvGrpSpPr/>
        <p:nvPr/>
      </p:nvGrpSpPr>
      <p:grpSpPr>
        <a:xfrm>
          <a:off x="0" y="0"/>
          <a:ext cx="0" cy="0"/>
        </a:xfrm>
      </p:grpSpPr>
      <p:sp>
        <p:nvSpPr>
          <p:cNvPr id="1144" name="Google Shape;1144;p44"/>
          <p:cNvSpPr/>
          <p:nvPr/>
        </p:nvSpPr>
        <p:spPr>
          <a:xfrm>
            <a:off x="1018375" y="1806425"/>
            <a:ext cx="715800" cy="2693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5" name="Google Shape;1145;p44"/>
          <p:cNvSpPr/>
          <p:nvPr/>
        </p:nvSpPr>
        <p:spPr>
          <a:xfrm>
            <a:off x="1822450" y="2590650"/>
            <a:ext cx="715800" cy="190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6" name="Google Shape;1146;p44"/>
          <p:cNvSpPr/>
          <p:nvPr/>
        </p:nvSpPr>
        <p:spPr>
          <a:xfrm>
            <a:off x="2626525" y="3656425"/>
            <a:ext cx="715800" cy="8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47" name="Google Shape;1147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ОБЗОР РАЗМЕРА РЫНКА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1148" name="Google Shape;1148;p44"/>
          <p:cNvSpPr txBox="1"/>
          <p:nvPr/>
        </p:nvSpPr>
        <p:spPr>
          <a:xfrm>
            <a:off x="1018375" y="1252188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dk1"/>
                </a:solidFill>
                <a:ea typeface="Raleway"/>
                <a:sym typeface="Raleway"/>
              </a:rPr>
              <a:t>$100M</a:t>
            </a:r>
            <a:endParaRPr lang="ru-RU" sz="2400" b="1">
              <a:solidFill>
                <a:schemeClr val="dk1"/>
              </a:solidFill>
              <a:ea typeface="Raleway"/>
            </a:endParaRPr>
          </a:p>
        </p:txBody>
      </p:sp>
      <p:sp>
        <p:nvSpPr>
          <p:cNvPr id="1149" name="Google Shape;1149;p44"/>
          <p:cNvSpPr txBox="1"/>
          <p:nvPr/>
        </p:nvSpPr>
        <p:spPr>
          <a:xfrm>
            <a:off x="1822450" y="2040750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lt1"/>
                </a:solidFill>
                <a:ea typeface="Raleway"/>
                <a:sym typeface="Raleway"/>
              </a:rPr>
              <a:t>$20M</a:t>
            </a:r>
            <a:endParaRPr sz="2400" b="1">
              <a:solidFill>
                <a:schemeClr val="lt1"/>
              </a:solidFill>
              <a:ea typeface="Raleway"/>
              <a:sym typeface="Raleway"/>
            </a:endParaRPr>
          </a:p>
        </p:txBody>
      </p:sp>
      <p:sp>
        <p:nvSpPr>
          <p:cNvPr id="1150" name="Google Shape;1150;p44"/>
          <p:cNvSpPr txBox="1"/>
          <p:nvPr/>
        </p:nvSpPr>
        <p:spPr>
          <a:xfrm>
            <a:off x="2626525" y="3102325"/>
            <a:ext cx="12699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2400" b="1">
                <a:solidFill>
                  <a:schemeClr val="accent1"/>
                </a:solidFill>
                <a:ea typeface="Raleway"/>
                <a:sym typeface="Raleway"/>
              </a:rPr>
              <a:t>$5M</a:t>
            </a:r>
            <a:endParaRPr lang="ru-RU" sz="2400" b="1">
              <a:solidFill>
                <a:schemeClr val="accent1"/>
              </a:solidFill>
              <a:ea typeface="Raleway"/>
            </a:endParaRPr>
          </a:p>
        </p:txBody>
      </p:sp>
      <p:sp>
        <p:nvSpPr>
          <p:cNvPr id="1151" name="Google Shape;1151;p44"/>
          <p:cNvSpPr/>
          <p:nvPr/>
        </p:nvSpPr>
        <p:spPr>
          <a:xfrm>
            <a:off x="4254550" y="11923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52" name="Google Shape;1152;p44"/>
          <p:cNvSpPr txBox="1"/>
          <p:nvPr/>
        </p:nvSpPr>
        <p:spPr>
          <a:xfrm>
            <a:off x="4840100" y="1116192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ea typeface="Raleway Black"/>
              </a:rPr>
              <a:t>ВНЕШНИЙ КРУГ</a:t>
            </a:r>
          </a:p>
        </p:txBody>
      </p:sp>
      <p:sp>
        <p:nvSpPr>
          <p:cNvPr id="1153" name="Google Shape;1153;p44"/>
          <p:cNvSpPr txBox="1"/>
          <p:nvPr/>
        </p:nvSpPr>
        <p:spPr>
          <a:xfrm>
            <a:off x="4840100" y="1411445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ea typeface="Hanken Grotesk"/>
                <a:sym typeface="Hanken Grotesk"/>
              </a:rPr>
              <a:t>Укажите общий объем рынка, который представляет всю потенциальную клиентскую базу для данного продукта или услуги</a:t>
            </a:r>
            <a:endParaRPr lang="en" sz="1200">
              <a:solidFill>
                <a:schemeClr val="dk1"/>
              </a:solidFill>
            </a:endParaRPr>
          </a:p>
        </p:txBody>
      </p:sp>
      <p:sp>
        <p:nvSpPr>
          <p:cNvPr id="1154" name="Google Shape;1154;p44"/>
          <p:cNvSpPr txBox="1"/>
          <p:nvPr/>
        </p:nvSpPr>
        <p:spPr>
          <a:xfrm>
            <a:off x="4840100" y="2295409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ea typeface="Raleway Black"/>
              </a:rPr>
              <a:t>СРЕДНИЙ КРУГ</a:t>
            </a:r>
          </a:p>
        </p:txBody>
      </p:sp>
      <p:sp>
        <p:nvSpPr>
          <p:cNvPr id="1155" name="Google Shape;1155;p44"/>
          <p:cNvSpPr txBox="1"/>
          <p:nvPr/>
        </p:nvSpPr>
        <p:spPr>
          <a:xfrm>
            <a:off x="4840100" y="2590656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ea typeface="Hanken Grotesk"/>
                <a:sym typeface="Hanken Grotesk"/>
              </a:rPr>
              <a:t>Определите целевой рынок для продукта или услуги, который может составлять часть общего рынка.</a:t>
            </a:r>
            <a:br>
              <a:rPr lang="en" sz="1200">
                <a:latin typeface="Hanken Grotesk"/>
                <a:ea typeface="Hanken Grotesk"/>
              </a:rPr>
            </a:br>
            <a:endParaRPr lang="en" sz="1200">
              <a:solidFill>
                <a:schemeClr val="dk1"/>
              </a:solidFill>
              <a:latin typeface="Hanken Grotesk"/>
            </a:endParaRPr>
          </a:p>
        </p:txBody>
      </p:sp>
      <p:sp>
        <p:nvSpPr>
          <p:cNvPr id="1156" name="Google Shape;1156;p44"/>
          <p:cNvSpPr txBox="1"/>
          <p:nvPr/>
        </p:nvSpPr>
        <p:spPr>
          <a:xfrm>
            <a:off x="4840100" y="3474627"/>
            <a:ext cx="3584100" cy="4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600" b="1">
                <a:solidFill>
                  <a:schemeClr val="dk1"/>
                </a:solidFill>
                <a:ea typeface="Raleway Black"/>
              </a:rPr>
              <a:t>ВНУТРЕННИЙ КРУГ</a:t>
            </a:r>
          </a:p>
        </p:txBody>
      </p:sp>
      <p:sp>
        <p:nvSpPr>
          <p:cNvPr id="1157" name="Google Shape;1157;p44"/>
          <p:cNvSpPr txBox="1"/>
          <p:nvPr/>
        </p:nvSpPr>
        <p:spPr>
          <a:xfrm>
            <a:off x="4840100" y="3769867"/>
            <a:ext cx="35841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1200">
                <a:solidFill>
                  <a:schemeClr val="dk1"/>
                </a:solidFill>
                <a:ea typeface="Hanken Grotesk"/>
                <a:sym typeface="Hanken Grotesk"/>
              </a:rPr>
              <a:t>Укажите текущий размер рынка, который представляет собой ту часть целевого рынка, которую компания успешно захватила</a:t>
            </a:r>
            <a:endParaRPr lang="ru-RU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58" name="Google Shape;1158;p44"/>
          <p:cNvSpPr/>
          <p:nvPr/>
        </p:nvSpPr>
        <p:spPr>
          <a:xfrm>
            <a:off x="4254550" y="23735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59" name="Google Shape;1159;p44"/>
          <p:cNvSpPr/>
          <p:nvPr/>
        </p:nvSpPr>
        <p:spPr>
          <a:xfrm>
            <a:off x="4254550" y="3554792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60" name="Google Shape;1160;p44"/>
          <p:cNvGrpSpPr/>
          <p:nvPr/>
        </p:nvGrpSpPr>
        <p:grpSpPr>
          <a:xfrm>
            <a:off x="4356313" y="3656425"/>
            <a:ext cx="345125" cy="345150"/>
            <a:chOff x="997838" y="3797375"/>
            <a:chExt cx="345125" cy="345150"/>
          </a:xfrm>
        </p:grpSpPr>
        <p:sp>
          <p:nvSpPr>
            <p:cNvPr id="1161" name="Google Shape;1161;p44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2" name="Google Shape;1162;p44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3" name="Google Shape;1163;p44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4" name="Google Shape;1164;p44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5" name="Google Shape;1165;p44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66" name="Google Shape;1166;p44"/>
          <p:cNvGrpSpPr/>
          <p:nvPr/>
        </p:nvGrpSpPr>
        <p:grpSpPr>
          <a:xfrm>
            <a:off x="4376150" y="2475363"/>
            <a:ext cx="305475" cy="345175"/>
            <a:chOff x="1017663" y="3243950"/>
            <a:chExt cx="305475" cy="345175"/>
          </a:xfrm>
        </p:grpSpPr>
        <p:sp>
          <p:nvSpPr>
            <p:cNvPr id="1167" name="Google Shape;1167;p44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8" name="Google Shape;1168;p44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69" name="Google Shape;1169;p44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70" name="Google Shape;1170;p44"/>
          <p:cNvGrpSpPr/>
          <p:nvPr/>
        </p:nvGrpSpPr>
        <p:grpSpPr>
          <a:xfrm>
            <a:off x="4356325" y="1294038"/>
            <a:ext cx="345125" cy="345425"/>
            <a:chOff x="997838" y="2690475"/>
            <a:chExt cx="345125" cy="345425"/>
          </a:xfrm>
        </p:grpSpPr>
        <p:sp>
          <p:nvSpPr>
            <p:cNvPr id="1171" name="Google Shape;1171;p44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2" name="Google Shape;1172;p44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3" name="Google Shape;1173;p44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4" name="Google Shape;1174;p44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5" name="Google Shape;1175;p44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6" name="Google Shape;1176;p44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77" name="Google Shape;1177;p44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cxnSp>
        <p:nvCxnSpPr>
          <p:cNvPr id="1178" name="Google Shape;1178;p44"/>
          <p:cNvCxnSpPr>
            <a:stCxn id="1151" idx="1"/>
          </p:cNvCxnSpPr>
          <p:nvPr/>
        </p:nvCxnSpPr>
        <p:spPr>
          <a:xfrm flipH="1">
            <a:off x="1746250" y="1466742"/>
            <a:ext cx="2508300" cy="5520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179" name="Google Shape;1179;p44"/>
          <p:cNvCxnSpPr>
            <a:stCxn id="1158" idx="1"/>
          </p:cNvCxnSpPr>
          <p:nvPr/>
        </p:nvCxnSpPr>
        <p:spPr>
          <a:xfrm flipH="1">
            <a:off x="2552950" y="2647942"/>
            <a:ext cx="1701600" cy="18360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180" name="Google Shape;1180;p44"/>
          <p:cNvCxnSpPr>
            <a:stCxn id="1159" idx="1"/>
            <a:endCxn id="1146" idx="3"/>
          </p:cNvCxnSpPr>
          <p:nvPr/>
        </p:nvCxnSpPr>
        <p:spPr>
          <a:xfrm flipH="1">
            <a:off x="3342250" y="3829142"/>
            <a:ext cx="912300" cy="249000"/>
          </a:xfrm>
          <a:prstGeom prst="bentConnector3">
            <a:avLst>
              <a:gd name="adj1" fmla="val 49996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ОБЗОР РАЗМЕРА РЫНКА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2026-07-13T08:41:57.748</cp:lastPrinted>
  <dcterms:created xsi:type="dcterms:W3CDTF">2026-07-13T15:41:57Z</dcterms:created>
  <dcterms:modified xsi:type="dcterms:W3CDTF">2026-07-13T15:41:58Z</dcterms:modified>
</cp:coreProperties>
</file>