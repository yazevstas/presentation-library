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40"/>
        <p:cNvGrpSpPr/>
        <p:nvPr/>
      </p:nvGrpSpPr>
      <p:grpSpPr>
        <a:xfrm>
          <a:off x="0" y="0"/>
          <a:ext cx="0" cy="0"/>
        </a:xfrm>
      </p:grpSpPr>
      <p:sp>
        <p:nvSpPr>
          <p:cNvPr id="1141" name="Google Shape;1141;g216241d4a31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216241d4a31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0429294-7F26-434E-8F8B-11727417FF6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C622FD3-4318-46AE-9593-040A89907CD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30531F5-DA27-4857-8FCA-397F3815845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BB6087B-D2BA-4892-857A-B3BB8213D5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1F76CBA-9748-40F4-88D3-A8E2E1F97DE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55229574-608F-4C78-AF2F-FAEE2E2BE6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95382C4-F82E-4BE4-934D-AE1F6DA430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468011A-4FD2-4CDC-8319-F42C6538DA7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976AD1F-8D9A-4B81-B3AB-F1817A3B7F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974CD8A-7382-41B8-87B0-E6D75EF1100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363D7F6-386D-4F21-A390-D9BBC8A578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43"/>
        <p:cNvGrpSpPr/>
        <p:nvPr/>
      </p:nvGrpSpPr>
      <p:grpSpPr>
        <a:xfrm>
          <a:off x="0" y="0"/>
          <a:ext cx="0" cy="0"/>
        </a:xfrm>
      </p:grpSpPr>
      <p:sp>
        <p:nvSpPr>
          <p:cNvPr id="1144" name="Google Shape;1144;p44"/>
          <p:cNvSpPr/>
          <p:nvPr/>
        </p:nvSpPr>
        <p:spPr>
          <a:xfrm>
            <a:off x="1018375" y="1806425"/>
            <a:ext cx="715800" cy="2693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5" name="Google Shape;1145;p44"/>
          <p:cNvSpPr/>
          <p:nvPr/>
        </p:nvSpPr>
        <p:spPr>
          <a:xfrm>
            <a:off x="1822450" y="2590650"/>
            <a:ext cx="715800" cy="190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6" name="Google Shape;1146;p44"/>
          <p:cNvSpPr/>
          <p:nvPr/>
        </p:nvSpPr>
        <p:spPr>
          <a:xfrm>
            <a:off x="2626525" y="3656425"/>
            <a:ext cx="715800" cy="8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7" name="Google Shape;1147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ОБЗОР РАЗМЕРА РЫНКА</a:t>
            </a:r>
            <a:endParaRPr lang="ru-RU"/>
          </a:p>
        </p:txBody>
      </p:sp>
      <p:sp>
        <p:nvSpPr>
          <p:cNvPr id="1148" name="Google Shape;1148;p44"/>
          <p:cNvSpPr txBox="1"/>
          <p:nvPr/>
        </p:nvSpPr>
        <p:spPr>
          <a:xfrm>
            <a:off x="1018375" y="1252188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$100M</a:t>
            </a:r>
            <a:endParaRPr sz="24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9" name="Google Shape;1149;p44"/>
          <p:cNvSpPr txBox="1"/>
          <p:nvPr/>
        </p:nvSpPr>
        <p:spPr>
          <a:xfrm>
            <a:off x="1822450" y="2040750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rPr>
              <a:t>$20M</a:t>
            </a:r>
            <a:endParaRPr sz="2400" b="1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50" name="Google Shape;1150;p44"/>
          <p:cNvSpPr txBox="1"/>
          <p:nvPr/>
        </p:nvSpPr>
        <p:spPr>
          <a:xfrm>
            <a:off x="2626525" y="3102325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$5M</a:t>
            </a:r>
            <a:endParaRPr sz="2400" b="1">
              <a:solidFill>
                <a:schemeClr val="accen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51" name="Google Shape;1151;p44"/>
          <p:cNvSpPr/>
          <p:nvPr/>
        </p:nvSpPr>
        <p:spPr>
          <a:xfrm>
            <a:off x="4254550" y="11923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2" name="Google Shape;1152;p44"/>
          <p:cNvSpPr txBox="1"/>
          <p:nvPr/>
        </p:nvSpPr>
        <p:spPr>
          <a:xfrm>
            <a:off x="4840100" y="1116192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</a:rPr>
              <a:t>ВНЕШНИЙ КРУГ</a:t>
            </a:r>
            <a:endParaRPr lang="en" sz="1600">
              <a:solidFill>
                <a:schemeClr val="dk1"/>
              </a:solidFill>
              <a:latin typeface="Raleway Black"/>
              <a:ea typeface="Raleway Black"/>
              <a:cs typeface="Raleway Black"/>
            </a:endParaRPr>
          </a:p>
        </p:txBody>
      </p:sp>
      <p:sp>
        <p:nvSpPr>
          <p:cNvPr id="1153" name="Google Shape;1153;p44"/>
          <p:cNvSpPr txBox="1"/>
          <p:nvPr/>
        </p:nvSpPr>
        <p:spPr>
          <a:xfrm>
            <a:off x="4840100" y="1411445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sym typeface="Hanken Grotesk"/>
              </a:rPr>
              <a:t>Укажите общий объем рынка, который представляет всю потенциальную клиентскую базу для данного продукта или услуги</a:t>
            </a:r>
            <a:endParaRPr lang="en" sz="1200" err="1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1154" name="Google Shape;1154;p44"/>
          <p:cNvSpPr txBox="1"/>
          <p:nvPr/>
        </p:nvSpPr>
        <p:spPr>
          <a:xfrm>
            <a:off x="4840100" y="2295409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</a:rPr>
              <a:t>СРЕДНИЙ КРУГ</a:t>
            </a:r>
            <a:endParaRPr lang="en" sz="1600">
              <a:solidFill>
                <a:schemeClr val="dk1"/>
              </a:solidFill>
              <a:latin typeface="Raleway Black"/>
              <a:ea typeface="Raleway Black"/>
              <a:cs typeface="Raleway Black"/>
            </a:endParaRPr>
          </a:p>
        </p:txBody>
      </p:sp>
      <p:sp>
        <p:nvSpPr>
          <p:cNvPr id="1155" name="Google Shape;1155;p44"/>
          <p:cNvSpPr txBox="1"/>
          <p:nvPr/>
        </p:nvSpPr>
        <p:spPr>
          <a:xfrm>
            <a:off x="4840100" y="2590656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sym typeface="Hanken Grotesk"/>
              </a:rPr>
              <a:t>Определите целевой рынок для продукта или услуги, который может составлять часть общего рынка.</a:t>
            </a:r>
            <a:br>
              <a:rPr lang="en" sz="1200">
                <a:solidFill>
                  <a:schemeClr val="dk1"/>
                </a:solidFill>
                <a:latin typeface="Hanken Grotesk"/>
                <a:ea typeface="Hanken Grotesk"/>
                <a:sym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1156" name="Google Shape;1156;p44"/>
          <p:cNvSpPr txBox="1"/>
          <p:nvPr/>
        </p:nvSpPr>
        <p:spPr>
          <a:xfrm>
            <a:off x="4840100" y="3474627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</a:rPr>
              <a:t>ВНУТРЕННИЙ КРУГ</a:t>
            </a:r>
            <a:endParaRPr lang="en" sz="1600">
              <a:solidFill>
                <a:schemeClr val="dk1"/>
              </a:solidFill>
              <a:latin typeface="Raleway Black"/>
              <a:ea typeface="Raleway Black"/>
              <a:cs typeface="Raleway Black"/>
            </a:endParaRPr>
          </a:p>
        </p:txBody>
      </p:sp>
      <p:sp>
        <p:nvSpPr>
          <p:cNvPr id="1157" name="Google Shape;1157;p44"/>
          <p:cNvSpPr txBox="1"/>
          <p:nvPr/>
        </p:nvSpPr>
        <p:spPr>
          <a:xfrm>
            <a:off x="4840100" y="3769867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Укажите текущий размер рынка, который представляет собой ту часть целевого рынка, которую компания успешно захватила</a:t>
            </a:r>
            <a:endParaRPr lang="ru-RU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58" name="Google Shape;1158;p44"/>
          <p:cNvSpPr/>
          <p:nvPr/>
        </p:nvSpPr>
        <p:spPr>
          <a:xfrm>
            <a:off x="4254550" y="23735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9" name="Google Shape;1159;p44"/>
          <p:cNvSpPr/>
          <p:nvPr/>
        </p:nvSpPr>
        <p:spPr>
          <a:xfrm>
            <a:off x="4254550" y="35547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60" name="Google Shape;1160;p44"/>
          <p:cNvGrpSpPr/>
          <p:nvPr/>
        </p:nvGrpSpPr>
        <p:grpSpPr>
          <a:xfrm>
            <a:off x="4356313" y="3656425"/>
            <a:ext cx="345125" cy="345150"/>
            <a:chOff x="997838" y="3797375"/>
            <a:chExt cx="345125" cy="345150"/>
          </a:xfrm>
        </p:grpSpPr>
        <p:sp>
          <p:nvSpPr>
            <p:cNvPr id="1161" name="Google Shape;1161;p44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2" name="Google Shape;1162;p44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3" name="Google Shape;1163;p44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4" name="Google Shape;1164;p44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5" name="Google Shape;1165;p44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66" name="Google Shape;1166;p44"/>
          <p:cNvGrpSpPr/>
          <p:nvPr/>
        </p:nvGrpSpPr>
        <p:grpSpPr>
          <a:xfrm>
            <a:off x="4376150" y="2475363"/>
            <a:ext cx="305475" cy="345175"/>
            <a:chOff x="1017663" y="3243950"/>
            <a:chExt cx="305475" cy="345175"/>
          </a:xfrm>
        </p:grpSpPr>
        <p:sp>
          <p:nvSpPr>
            <p:cNvPr id="1167" name="Google Shape;1167;p44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8" name="Google Shape;1168;p44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9" name="Google Shape;1169;p44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70" name="Google Shape;1170;p44"/>
          <p:cNvGrpSpPr/>
          <p:nvPr/>
        </p:nvGrpSpPr>
        <p:grpSpPr>
          <a:xfrm>
            <a:off x="4356325" y="1294038"/>
            <a:ext cx="345125" cy="345425"/>
            <a:chOff x="997838" y="2690475"/>
            <a:chExt cx="345125" cy="345425"/>
          </a:xfrm>
        </p:grpSpPr>
        <p:sp>
          <p:nvSpPr>
            <p:cNvPr id="1171" name="Google Shape;1171;p44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2" name="Google Shape;1172;p44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3" name="Google Shape;1173;p44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4" name="Google Shape;1174;p44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5" name="Google Shape;1175;p44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6" name="Google Shape;1176;p44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7" name="Google Shape;1177;p44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78" name="Google Shape;1178;p44"/>
          <p:cNvCxnSpPr>
            <a:stCxn id="1151" idx="1"/>
          </p:cNvCxnSpPr>
          <p:nvPr/>
        </p:nvCxnSpPr>
        <p:spPr>
          <a:xfrm flipH="1">
            <a:off x="1746250" y="1466742"/>
            <a:ext cx="2508300" cy="5520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79" name="Google Shape;1179;p44"/>
          <p:cNvCxnSpPr>
            <a:stCxn id="1158" idx="1"/>
          </p:cNvCxnSpPr>
          <p:nvPr/>
        </p:nvCxnSpPr>
        <p:spPr>
          <a:xfrm flipH="1">
            <a:off x="2552950" y="2647942"/>
            <a:ext cx="1701600" cy="183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80" name="Google Shape;1180;p44"/>
          <p:cNvCxnSpPr>
            <a:stCxn id="1159" idx="1"/>
            <a:endCxn id="1146" idx="3"/>
          </p:cNvCxnSpPr>
          <p:nvPr/>
        </p:nvCxnSpPr>
        <p:spPr>
          <a:xfrm flipH="1">
            <a:off x="3342250" y="3829142"/>
            <a:ext cx="912300" cy="249000"/>
          </a:xfrm>
          <a:prstGeom prst="bentConnector3">
            <a:avLst>
              <a:gd name="adj1" fmla="val 4999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ОБЗОР РАЗМЕРА РЫНКА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2026-07-08T12:43:13.129</cp:lastPrinted>
  <dcterms:created xsi:type="dcterms:W3CDTF">2026-07-08T19:43:13Z</dcterms:created>
  <dcterms:modified xsi:type="dcterms:W3CDTF">2026-07-08T19:43:13Z</dcterms:modified>
</cp:coreProperties>
</file>