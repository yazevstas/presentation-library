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90"/>
        <p:cNvGrpSpPr/>
        <p:nvPr/>
      </p:nvGrpSpPr>
      <p:grpSpPr>
        <a:xfrm>
          <a:off x="0" y="0"/>
          <a:ext cx="0" cy="0"/>
        </a:xfrm>
      </p:grpSpPr>
      <p:sp>
        <p:nvSpPr>
          <p:cNvPr id="791" name="Google Shape;791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976C118-7BDB-4BB0-873B-98878B308D0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5FEB19C-F1A6-415C-B16B-D0CD90806FB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CBBEAC5-B5B3-4B5D-BDEA-06DC53CC440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4FDAD26-E306-475C-B8DE-F1DEC1427F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D04D6967-3EC6-4689-82B8-67B1E8D4E10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5C276909-094C-4C5F-ADDB-720E987AB4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DD94FC6-C70B-4EDE-AF84-88F191AB2F3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26BAFFF-848D-4E96-A1EF-E5E995E050A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067B37A-9A7C-4E73-8170-1522CBDCB4F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DB9353D-B36C-445E-A3F3-F81F063842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980FAE7-39EB-4A26-AC83-417E03F038A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93"/>
        <p:cNvGrpSpPr/>
        <p:nvPr/>
      </p:nvGrpSpPr>
      <p:grpSpPr>
        <a:xfrm>
          <a:off x="0" y="0"/>
          <a:ext cx="0" cy="0"/>
        </a:xfrm>
      </p:grpSpPr>
      <p:grpSp>
        <p:nvGrpSpPr>
          <p:cNvPr id="803" name="Google Shape;803;p35"/>
          <p:cNvGrpSpPr/>
          <p:nvPr/>
        </p:nvGrpSpPr>
        <p:grpSpPr>
          <a:xfrm>
            <a:off x="4628575" y="1401781"/>
            <a:ext cx="345125" cy="345150"/>
            <a:chOff x="997838" y="3797375"/>
            <a:chExt cx="345125" cy="345150"/>
          </a:xfrm>
        </p:grpSpPr>
        <p:sp>
          <p:nvSpPr>
            <p:cNvPr id="804" name="Google Shape;804;p35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6" name="Google Shape;806;p35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7" name="Google Shape;807;p35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09" name="Google Shape;809;p35"/>
          <p:cNvGrpSpPr/>
          <p:nvPr/>
        </p:nvGrpSpPr>
        <p:grpSpPr>
          <a:xfrm>
            <a:off x="4628575" y="2913438"/>
            <a:ext cx="345150" cy="345150"/>
            <a:chOff x="1696838" y="3797375"/>
            <a:chExt cx="345150" cy="345150"/>
          </a:xfrm>
        </p:grpSpPr>
        <p:sp>
          <p:nvSpPr>
            <p:cNvPr id="810" name="Google Shape;810;p35"/>
            <p:cNvSpPr/>
            <p:nvPr/>
          </p:nvSpPr>
          <p:spPr>
            <a:xfrm>
              <a:off x="1696838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283" y="3241"/>
                  </a:moveTo>
                  <a:cubicBezTo>
                    <a:pt x="5951" y="3241"/>
                    <a:pt x="6498" y="3777"/>
                    <a:pt x="6498" y="4456"/>
                  </a:cubicBezTo>
                  <a:lnTo>
                    <a:pt x="6498" y="4585"/>
                  </a:lnTo>
                  <a:lnTo>
                    <a:pt x="6357" y="4585"/>
                  </a:lnTo>
                  <a:cubicBezTo>
                    <a:pt x="5693" y="4585"/>
                    <a:pt x="5143" y="4046"/>
                    <a:pt x="5143" y="3367"/>
                  </a:cubicBezTo>
                  <a:lnTo>
                    <a:pt x="5143" y="3241"/>
                  </a:lnTo>
                  <a:close/>
                  <a:moveTo>
                    <a:pt x="8649" y="3241"/>
                  </a:moveTo>
                  <a:lnTo>
                    <a:pt x="8649" y="3367"/>
                  </a:lnTo>
                  <a:cubicBezTo>
                    <a:pt x="8649" y="4046"/>
                    <a:pt x="8111" y="4585"/>
                    <a:pt x="7446" y="4585"/>
                  </a:cubicBezTo>
                  <a:lnTo>
                    <a:pt x="7306" y="4585"/>
                  </a:lnTo>
                  <a:lnTo>
                    <a:pt x="7306" y="4456"/>
                  </a:lnTo>
                  <a:cubicBezTo>
                    <a:pt x="7306" y="3777"/>
                    <a:pt x="7844" y="3241"/>
                    <a:pt x="8520" y="3241"/>
                  </a:cubicBezTo>
                  <a:close/>
                  <a:moveTo>
                    <a:pt x="8299" y="7283"/>
                  </a:moveTo>
                  <a:lnTo>
                    <a:pt x="7914" y="9166"/>
                  </a:lnTo>
                  <a:lnTo>
                    <a:pt x="5881" y="9166"/>
                  </a:lnTo>
                  <a:lnTo>
                    <a:pt x="5505" y="7283"/>
                  </a:lnTo>
                  <a:close/>
                  <a:moveTo>
                    <a:pt x="12857" y="809"/>
                  </a:moveTo>
                  <a:cubicBezTo>
                    <a:pt x="12939" y="809"/>
                    <a:pt x="12998" y="868"/>
                    <a:pt x="12998" y="949"/>
                  </a:cubicBezTo>
                  <a:lnTo>
                    <a:pt x="12998" y="9166"/>
                  </a:lnTo>
                  <a:lnTo>
                    <a:pt x="8742" y="9166"/>
                  </a:lnTo>
                  <a:lnTo>
                    <a:pt x="9118" y="7283"/>
                  </a:lnTo>
                  <a:lnTo>
                    <a:pt x="9317" y="7283"/>
                  </a:lnTo>
                  <a:cubicBezTo>
                    <a:pt x="9528" y="7283"/>
                    <a:pt x="9701" y="7132"/>
                    <a:pt x="9724" y="6922"/>
                  </a:cubicBezTo>
                  <a:cubicBezTo>
                    <a:pt x="9760" y="6677"/>
                    <a:pt x="9561" y="6478"/>
                    <a:pt x="9328" y="6478"/>
                  </a:cubicBezTo>
                  <a:lnTo>
                    <a:pt x="7306" y="6478"/>
                  </a:lnTo>
                  <a:lnTo>
                    <a:pt x="7306" y="5390"/>
                  </a:lnTo>
                  <a:lnTo>
                    <a:pt x="7446" y="5390"/>
                  </a:lnTo>
                  <a:cubicBezTo>
                    <a:pt x="8557" y="5390"/>
                    <a:pt x="9469" y="4489"/>
                    <a:pt x="9469" y="3367"/>
                  </a:cubicBezTo>
                  <a:lnTo>
                    <a:pt x="9469" y="2831"/>
                  </a:lnTo>
                  <a:cubicBezTo>
                    <a:pt x="9469" y="2610"/>
                    <a:pt x="9281" y="2433"/>
                    <a:pt x="9059" y="2433"/>
                  </a:cubicBezTo>
                  <a:lnTo>
                    <a:pt x="8520" y="2433"/>
                  </a:lnTo>
                  <a:cubicBezTo>
                    <a:pt x="7856" y="2433"/>
                    <a:pt x="7269" y="2750"/>
                    <a:pt x="6896" y="3241"/>
                  </a:cubicBezTo>
                  <a:cubicBezTo>
                    <a:pt x="6534" y="2750"/>
                    <a:pt x="5951" y="2433"/>
                    <a:pt x="5283" y="2433"/>
                  </a:cubicBezTo>
                  <a:lnTo>
                    <a:pt x="4744" y="2433"/>
                  </a:lnTo>
                  <a:cubicBezTo>
                    <a:pt x="4523" y="2433"/>
                    <a:pt x="4338" y="2610"/>
                    <a:pt x="4338" y="2831"/>
                  </a:cubicBezTo>
                  <a:lnTo>
                    <a:pt x="4338" y="3367"/>
                  </a:lnTo>
                  <a:cubicBezTo>
                    <a:pt x="4338" y="4489"/>
                    <a:pt x="5249" y="5390"/>
                    <a:pt x="6357" y="5390"/>
                  </a:cubicBezTo>
                  <a:lnTo>
                    <a:pt x="6498" y="5390"/>
                  </a:lnTo>
                  <a:lnTo>
                    <a:pt x="6498" y="6478"/>
                  </a:lnTo>
                  <a:lnTo>
                    <a:pt x="4489" y="6478"/>
                  </a:lnTo>
                  <a:cubicBezTo>
                    <a:pt x="4279" y="6478"/>
                    <a:pt x="4091" y="6630"/>
                    <a:pt x="4068" y="6829"/>
                  </a:cubicBezTo>
                  <a:cubicBezTo>
                    <a:pt x="4043" y="7073"/>
                    <a:pt x="4231" y="7283"/>
                    <a:pt x="4478" y="7283"/>
                  </a:cubicBezTo>
                  <a:lnTo>
                    <a:pt x="4688" y="7283"/>
                  </a:lnTo>
                  <a:lnTo>
                    <a:pt x="5061" y="9166"/>
                  </a:lnTo>
                  <a:lnTo>
                    <a:pt x="806" y="9166"/>
                  </a:lnTo>
                  <a:lnTo>
                    <a:pt x="806" y="949"/>
                  </a:lnTo>
                  <a:cubicBezTo>
                    <a:pt x="806" y="868"/>
                    <a:pt x="865" y="809"/>
                    <a:pt x="946" y="809"/>
                  </a:cubicBezTo>
                  <a:close/>
                  <a:moveTo>
                    <a:pt x="12998" y="9974"/>
                  </a:moveTo>
                  <a:lnTo>
                    <a:pt x="12998" y="10650"/>
                  </a:lnTo>
                  <a:cubicBezTo>
                    <a:pt x="12998" y="10720"/>
                    <a:pt x="12939" y="10790"/>
                    <a:pt x="12857" y="10790"/>
                  </a:cubicBezTo>
                  <a:lnTo>
                    <a:pt x="946" y="10790"/>
                  </a:lnTo>
                  <a:cubicBezTo>
                    <a:pt x="865" y="10790"/>
                    <a:pt x="806" y="10720"/>
                    <a:pt x="806" y="10650"/>
                  </a:cubicBezTo>
                  <a:lnTo>
                    <a:pt x="806" y="9974"/>
                  </a:lnTo>
                  <a:close/>
                  <a:moveTo>
                    <a:pt x="8206" y="11598"/>
                  </a:moveTo>
                  <a:lnTo>
                    <a:pt x="8546" y="13001"/>
                  </a:lnTo>
                  <a:lnTo>
                    <a:pt x="5261" y="13001"/>
                  </a:lnTo>
                  <a:lnTo>
                    <a:pt x="5600" y="11598"/>
                  </a:lnTo>
                  <a:close/>
                  <a:moveTo>
                    <a:pt x="946" y="1"/>
                  </a:moveTo>
                  <a:cubicBezTo>
                    <a:pt x="421" y="1"/>
                    <a:pt x="1" y="422"/>
                    <a:pt x="1" y="949"/>
                  </a:cubicBezTo>
                  <a:lnTo>
                    <a:pt x="1" y="10650"/>
                  </a:lnTo>
                  <a:cubicBezTo>
                    <a:pt x="1" y="11177"/>
                    <a:pt x="421" y="11598"/>
                    <a:pt x="946" y="11598"/>
                  </a:cubicBezTo>
                  <a:lnTo>
                    <a:pt x="4770" y="11598"/>
                  </a:lnTo>
                  <a:lnTo>
                    <a:pt x="4430" y="13001"/>
                  </a:lnTo>
                  <a:lnTo>
                    <a:pt x="3681" y="13001"/>
                  </a:lnTo>
                  <a:cubicBezTo>
                    <a:pt x="3471" y="13001"/>
                    <a:pt x="3286" y="13152"/>
                    <a:pt x="3260" y="13351"/>
                  </a:cubicBezTo>
                  <a:cubicBezTo>
                    <a:pt x="3238" y="13595"/>
                    <a:pt x="3426" y="13806"/>
                    <a:pt x="3670" y="13806"/>
                  </a:cubicBezTo>
                  <a:lnTo>
                    <a:pt x="10122" y="13806"/>
                  </a:lnTo>
                  <a:cubicBezTo>
                    <a:pt x="10333" y="13806"/>
                    <a:pt x="10521" y="13654"/>
                    <a:pt x="10543" y="13444"/>
                  </a:cubicBezTo>
                  <a:cubicBezTo>
                    <a:pt x="10565" y="13200"/>
                    <a:pt x="10380" y="13001"/>
                    <a:pt x="10133" y="13001"/>
                  </a:cubicBezTo>
                  <a:lnTo>
                    <a:pt x="9373" y="13001"/>
                  </a:lnTo>
                  <a:lnTo>
                    <a:pt x="9037" y="11598"/>
                  </a:lnTo>
                  <a:lnTo>
                    <a:pt x="12857" y="11598"/>
                  </a:lnTo>
                  <a:cubicBezTo>
                    <a:pt x="13385" y="11598"/>
                    <a:pt x="13806" y="11177"/>
                    <a:pt x="13806" y="10650"/>
                  </a:cubicBezTo>
                  <a:lnTo>
                    <a:pt x="13806" y="949"/>
                  </a:lnTo>
                  <a:cubicBezTo>
                    <a:pt x="13806" y="422"/>
                    <a:pt x="13385" y="1"/>
                    <a:pt x="12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>
              <a:off x="1959838" y="3891775"/>
              <a:ext cx="41475" cy="20225"/>
            </a:xfrm>
            <a:custGeom>
              <a:rect l="l" t="t" r="r" b="b"/>
              <a:pathLst>
                <a:path w="1659" h="809" extrusionOk="0">
                  <a:moveTo>
                    <a:pt x="433" y="1"/>
                  </a:moveTo>
                  <a:cubicBezTo>
                    <a:pt x="233" y="1"/>
                    <a:pt x="45" y="152"/>
                    <a:pt x="23" y="363"/>
                  </a:cubicBezTo>
                  <a:cubicBezTo>
                    <a:pt x="1" y="598"/>
                    <a:pt x="186" y="809"/>
                    <a:pt x="421" y="809"/>
                  </a:cubicBezTo>
                  <a:lnTo>
                    <a:pt x="1227" y="809"/>
                  </a:lnTo>
                  <a:cubicBezTo>
                    <a:pt x="1426" y="809"/>
                    <a:pt x="1614" y="657"/>
                    <a:pt x="1636" y="447"/>
                  </a:cubicBezTo>
                  <a:cubicBezTo>
                    <a:pt x="1659" y="211"/>
                    <a:pt x="1473" y="1"/>
                    <a:pt x="1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>
              <a:off x="1952188" y="38380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6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60" y="572"/>
                    <a:pt x="1" y="816"/>
                    <a:pt x="107" y="1004"/>
                  </a:cubicBezTo>
                  <a:cubicBezTo>
                    <a:pt x="186" y="1138"/>
                    <a:pt x="322" y="1213"/>
                    <a:pt x="462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58" y="642"/>
                    <a:pt x="1628" y="395"/>
                    <a:pt x="1510" y="196"/>
                  </a:cubicBezTo>
                  <a:cubicBezTo>
                    <a:pt x="1439" y="72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3" name="Google Shape;813;p35"/>
            <p:cNvSpPr/>
            <p:nvPr/>
          </p:nvSpPr>
          <p:spPr>
            <a:xfrm>
              <a:off x="1952188" y="3935650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6" y="76"/>
                    <a:pt x="107" y="209"/>
                  </a:cubicBezTo>
                  <a:cubicBezTo>
                    <a:pt x="1" y="397"/>
                    <a:pt x="60" y="642"/>
                    <a:pt x="259" y="759"/>
                  </a:cubicBezTo>
                  <a:lnTo>
                    <a:pt x="960" y="1169"/>
                  </a:lnTo>
                  <a:cubicBezTo>
                    <a:pt x="1023" y="1202"/>
                    <a:pt x="1090" y="1217"/>
                    <a:pt x="1156" y="1217"/>
                  </a:cubicBezTo>
                  <a:cubicBezTo>
                    <a:pt x="1300" y="1217"/>
                    <a:pt x="1437" y="1144"/>
                    <a:pt x="1510" y="1017"/>
                  </a:cubicBezTo>
                  <a:cubicBezTo>
                    <a:pt x="1628" y="818"/>
                    <a:pt x="1558" y="571"/>
                    <a:pt x="1370" y="468"/>
                  </a:cubicBezTo>
                  <a:lnTo>
                    <a:pt x="668" y="58"/>
                  </a:lnTo>
                  <a:cubicBezTo>
                    <a:pt x="603" y="19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4" name="Google Shape;814;p35"/>
            <p:cNvSpPr/>
            <p:nvPr/>
          </p:nvSpPr>
          <p:spPr>
            <a:xfrm>
              <a:off x="1737438" y="3891775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3" y="1"/>
                  </a:moveTo>
                  <a:cubicBezTo>
                    <a:pt x="223" y="1"/>
                    <a:pt x="49" y="152"/>
                    <a:pt x="23" y="363"/>
                  </a:cubicBezTo>
                  <a:cubicBezTo>
                    <a:pt x="1" y="598"/>
                    <a:pt x="189" y="809"/>
                    <a:pt x="422" y="809"/>
                  </a:cubicBezTo>
                  <a:lnTo>
                    <a:pt x="1227" y="809"/>
                  </a:lnTo>
                  <a:cubicBezTo>
                    <a:pt x="1474" y="809"/>
                    <a:pt x="1662" y="598"/>
                    <a:pt x="1636" y="363"/>
                  </a:cubicBezTo>
                  <a:cubicBezTo>
                    <a:pt x="1614" y="152"/>
                    <a:pt x="1426" y="1"/>
                    <a:pt x="12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>
              <a:off x="1745938" y="38380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19" y="0"/>
                    <a:pt x="187" y="72"/>
                    <a:pt x="115" y="196"/>
                  </a:cubicBezTo>
                  <a:cubicBezTo>
                    <a:pt x="0" y="395"/>
                    <a:pt x="70" y="642"/>
                    <a:pt x="256" y="757"/>
                  </a:cubicBezTo>
                  <a:lnTo>
                    <a:pt x="957" y="1156"/>
                  </a:lnTo>
                  <a:cubicBezTo>
                    <a:pt x="1023" y="1195"/>
                    <a:pt x="1094" y="1213"/>
                    <a:pt x="1163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5" y="572"/>
                    <a:pt x="1367" y="454"/>
                  </a:cubicBezTo>
                  <a:lnTo>
                    <a:pt x="665" y="56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>
              <a:off x="1745938" y="3935650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3" y="1"/>
                  </a:moveTo>
                  <a:cubicBezTo>
                    <a:pt x="1094" y="1"/>
                    <a:pt x="1023" y="19"/>
                    <a:pt x="957" y="58"/>
                  </a:cubicBezTo>
                  <a:lnTo>
                    <a:pt x="256" y="468"/>
                  </a:lnTo>
                  <a:cubicBezTo>
                    <a:pt x="70" y="571"/>
                    <a:pt x="0" y="818"/>
                    <a:pt x="115" y="1017"/>
                  </a:cubicBezTo>
                  <a:cubicBezTo>
                    <a:pt x="188" y="1144"/>
                    <a:pt x="326" y="1217"/>
                    <a:pt x="469" y="1217"/>
                  </a:cubicBezTo>
                  <a:cubicBezTo>
                    <a:pt x="535" y="1217"/>
                    <a:pt x="602" y="1202"/>
                    <a:pt x="665" y="1169"/>
                  </a:cubicBezTo>
                  <a:lnTo>
                    <a:pt x="1367" y="759"/>
                  </a:lnTo>
                  <a:cubicBezTo>
                    <a:pt x="1555" y="642"/>
                    <a:pt x="1625" y="397"/>
                    <a:pt x="1507" y="209"/>
                  </a:cubicBezTo>
                  <a:cubicBezTo>
                    <a:pt x="1437" y="76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17" name="Google Shape;817;p35"/>
          <p:cNvGrpSpPr/>
          <p:nvPr/>
        </p:nvGrpSpPr>
        <p:grpSpPr>
          <a:xfrm>
            <a:off x="838188" y="2913425"/>
            <a:ext cx="305475" cy="345175"/>
            <a:chOff x="1017663" y="3243950"/>
            <a:chExt cx="305475" cy="345175"/>
          </a:xfrm>
        </p:grpSpPr>
        <p:sp>
          <p:nvSpPr>
            <p:cNvPr id="818" name="Google Shape;818;p35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0" name="Google Shape;820;p35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21" name="Google Shape;821;p35"/>
          <p:cNvGrpSpPr/>
          <p:nvPr/>
        </p:nvGrpSpPr>
        <p:grpSpPr>
          <a:xfrm>
            <a:off x="818363" y="1401644"/>
            <a:ext cx="345125" cy="345425"/>
            <a:chOff x="997838" y="2690475"/>
            <a:chExt cx="345125" cy="345425"/>
          </a:xfrm>
        </p:grpSpPr>
        <p:sp>
          <p:nvSpPr>
            <p:cNvPr id="822" name="Google Shape;822;p35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7" name="Google Shape;827;p35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8" name="Google Shape;828;p35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D836276-EBBE-5F82-7AEA-EB9C587A7249}"/>
              </a:ext>
            </a:extLst>
          </p:cNvPr>
          <p:cNvSpPr txBox="1"/>
          <p:nvPr/>
        </p:nvSpPr>
        <p:spPr>
          <a:xfrm>
            <a:off x="827161" y="539027"/>
            <a:ext cx="4965018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2400" b="1">
                <a:solidFill>
                  <a:schemeClr val="tx1"/>
                </a:solidFill>
              </a:rPr>
              <a:t>КЛЮЧЕВЫЕ ИДЕИ ДЛЯ РЫНКА</a:t>
            </a:r>
            <a:r>
              <a:rPr lang="en" sz="2400"/>
              <a:t> </a:t>
            </a:r>
            <a:endParaRPr lang="ru-RU" sz="2400"/>
          </a:p>
          <a:p>
            <a:pPr algn="l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55967D-D84C-3CBB-27F4-62FCBA30234E}"/>
              </a:ext>
            </a:extLst>
          </p:cNvPr>
          <p:cNvSpPr txBox="1"/>
          <p:nvPr/>
        </p:nvSpPr>
        <p:spPr>
          <a:xfrm>
            <a:off x="1252947" y="1215179"/>
            <a:ext cx="2422947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tx1"/>
                </a:solidFill>
              </a:rPr>
              <a:t>ИССЛЕДЙТЕ НОВЫЕ РЫНКИ</a:t>
            </a:r>
            <a:endParaRPr lang="ru-RU" sz="16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DF436-3B28-5A66-0706-13D289EB3F62}"/>
              </a:ext>
            </a:extLst>
          </p:cNvPr>
          <p:cNvSpPr txBox="1"/>
          <p:nvPr/>
        </p:nvSpPr>
        <p:spPr>
          <a:xfrm>
            <a:off x="1251828" y="1830565"/>
            <a:ext cx="2427831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 err="1">
                <a:solidFill>
                  <a:schemeClr val="tx1"/>
                </a:solidFill>
              </a:rPr>
              <a:t>Анализ существующих потребностей клиентов и выявление пробелов на рынке для поиска новых возможностей</a:t>
            </a:r>
            <a:endParaRPr lang="ru-RU" sz="12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9636DF-8E9B-E38D-6465-FC9DAF0B682A}"/>
              </a:ext>
            </a:extLst>
          </p:cNvPr>
          <p:cNvSpPr txBox="1"/>
          <p:nvPr/>
        </p:nvSpPr>
        <p:spPr>
          <a:xfrm>
            <a:off x="5078202" y="1216003"/>
            <a:ext cx="228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tx1"/>
                </a:solidFill>
              </a:rPr>
              <a:t>ИННОВАЦИОННЫЕ РЕШЕНИЯ</a:t>
            </a:r>
            <a:endParaRPr lang="ru-RU" sz="16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B1B69F-75E2-092D-B38E-A79661123CAD}"/>
              </a:ext>
            </a:extLst>
          </p:cNvPr>
          <p:cNvSpPr txBox="1"/>
          <p:nvPr/>
        </p:nvSpPr>
        <p:spPr>
          <a:xfrm>
            <a:off x="5078555" y="1829210"/>
            <a:ext cx="2251880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tx1"/>
                </a:solidFill>
              </a:rPr>
              <a:t>Используйте технологии и отзывы клиентов для разработки новых решений, которые отвечают запросам или нуждам ваших клиентов</a:t>
            </a:r>
            <a:endParaRPr lang="ru-RU" sz="12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1E3811-A40F-C7B6-CB7F-087C4F8A54AC}"/>
              </a:ext>
            </a:extLst>
          </p:cNvPr>
          <p:cNvSpPr txBox="1"/>
          <p:nvPr/>
        </p:nvSpPr>
        <p:spPr>
          <a:xfrm>
            <a:off x="1253123" y="2826027"/>
            <a:ext cx="1661968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tx1"/>
                </a:solidFill>
              </a:rPr>
              <a:t>ОПЕРЕЖАЙТЕ ТЕНДЕНЦИИ</a:t>
            </a:r>
            <a:endParaRPr lang="ru-RU" sz="16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9A7DA5-CAE2-0D98-D95C-DADF7D865D69}"/>
              </a:ext>
            </a:extLst>
          </p:cNvPr>
          <p:cNvSpPr txBox="1"/>
          <p:nvPr/>
        </p:nvSpPr>
        <p:spPr>
          <a:xfrm>
            <a:off x="1250299" y="3346996"/>
            <a:ext cx="2785553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 err="1">
                <a:solidFill>
                  <a:schemeClr val="tx1"/>
                </a:solidFill>
              </a:rPr>
              <a:t>Следите за изменениями на рынке, такими как изменения в поведении потребителей или появление новых технологий, чтобы оставаться конкурентоспособными и извлекать выгоду из новых возможностей и тенденций</a:t>
            </a:r>
            <a:endParaRPr lang="ru-RU" sz="12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89E9CD-5FAB-AC69-5282-CD840D02A29A}"/>
              </a:ext>
            </a:extLst>
          </p:cNvPr>
          <p:cNvSpPr txBox="1"/>
          <p:nvPr/>
        </p:nvSpPr>
        <p:spPr>
          <a:xfrm>
            <a:off x="5078202" y="2827146"/>
            <a:ext cx="1501253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tx1"/>
                </a:solidFill>
              </a:rPr>
              <a:t>СЕЗОННЫЕ ВСПЛЕСКИ</a:t>
            </a:r>
            <a:endParaRPr lang="ru-RU" sz="16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25CB0E-B999-0BD2-B3F7-71B79AA8FF95}"/>
              </a:ext>
            </a:extLst>
          </p:cNvPr>
          <p:cNvSpPr txBox="1"/>
          <p:nvPr/>
        </p:nvSpPr>
        <p:spPr>
          <a:xfrm>
            <a:off x="5077555" y="3345289"/>
            <a:ext cx="2602898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tx1"/>
                </a:solidFill>
              </a:rPr>
              <a:t>Определите время года, когда спрос на определенные товары может резко возрасти, например, в праздничные дни или по особым случаям, и используйте это время для привлечения клиентов или увеличения продаж</a:t>
            </a:r>
            <a:endParaRPr lang="ru-RU" sz="1200">
              <a:solidFill>
                <a:schemeClr val="tx1"/>
              </a:solidFill>
            </a:endParaRPr>
          </a:p>
          <a:p>
            <a:pPr algn="l"/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2026-08-03T14:31:46.817</cp:lastPrinted>
  <dcterms:created xsi:type="dcterms:W3CDTF">2026-08-03T14:31:46Z</dcterms:created>
  <dcterms:modified xsi:type="dcterms:W3CDTF">2026-08-03T14:31:47Z</dcterms:modified>
</cp:coreProperties>
</file>