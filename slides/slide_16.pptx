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DAF19E55-1936-451E-A299-2CC021112D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187"/>
        <p:cNvGrpSpPr/>
        <p:nvPr/>
      </p:nvGrpSpPr>
      <p:grpSpPr>
        <a:xfrm>
          <a:off x="0" y="0"/>
          <a:ext cx="0" cy="0"/>
        </a:xfrm>
      </p:grpSpPr>
      <p:sp>
        <p:nvSpPr>
          <p:cNvPr id="1188" name="Google Shape;1188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40FADC1-BC2C-4EF8-82EE-957C4CF6B54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C1AD532-5160-435D-85E1-04CA3E9331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1FC1C3-1BB9-40E6-AE0C-2E5571A2D3E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2B8E24F-CEE5-4472-BD92-50B66CFCC0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43AA000F-C50B-4799-9E52-A1A638B6D4A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4EDF2DB-A9E1-4B96-B107-7BE3C8A6B32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4A23961-F1F3-468B-93AA-542996E1FEC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091CCDC-5B1E-441A-AB29-DD92F073314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2FAFB33-E2D2-445B-A209-95CD6D5940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F732896-DAC9-4CB0-BCDA-EEA11568949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199E0DD-45EB-406D-B0B7-A84EF714EFA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 /><Relationship Id="rId4" Type="http://schemas.openxmlformats.org/officeDocument/2006/relationships/image" Target="../media/image1.png" /><Relationship Id="rId5" Type="http://schemas.openxmlformats.org/officeDocument/2006/relationships/hyperlink" Target="https://docs.google.com/spreadsheets/d/1kzDdCUJhF5jRAMppPV42AWyWWGjeS6UnPmm8dyOKRBM/copy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119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92" name="Google Shape;1192;p46"/>
          <p:cNvGraphicFramePr>
            <a:graphicFrameLocks noGrp="1"/>
          </p:cNvGraphicFramePr>
          <p:nvPr>
            <p:extLst>
              <p:ext uri="{D42A27DB-BD31-4B8C-83A1-F6EECF244321}">
                <p14:modId val="713502664"/>
              </p:ext>
            </p:extLst>
          </p:nvPr>
        </p:nvGraphicFramePr>
        <p:xfrm>
          <a:off x="720000" y="1186325"/>
          <a:ext cx="3435263" cy="3525875"/>
        </p:xfrm>
        <a:graphic>
          <a:graphicData uri="http://schemas.openxmlformats.org/drawingml/2006/table">
            <a:tbl>
              <a:tblPr>
                <a:noFill/>
                <a:tableStyleId>{DAF19E55-1936-451E-A299-2CC021112DF1}</a:tableStyleId>
              </a:tblPr>
              <a:tblGrid>
                <a:gridCol w="63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rial"/>
                          <a:ea typeface="Raleway ExtraBold"/>
                          <a:cs typeface="Arial"/>
                        </a:rPr>
                        <a:t>ТОВАР</a:t>
                      </a:r>
                      <a:endParaRPr lang="en" sz="1000" b="1">
                        <a:solidFill>
                          <a:schemeClr val="dk1"/>
                        </a:solidFill>
                        <a:latin typeface="Arial"/>
                        <a:ea typeface="Raleway ExtraBold"/>
                        <a:cs typeface="Arial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rial"/>
                          <a:ea typeface="Raleway ExtraBold"/>
                          <a:cs typeface="Arial"/>
                        </a:rPr>
                        <a:t>КОЛИЧЕСТВО</a:t>
                      </a:r>
                      <a:endParaRPr lang="en" sz="1000" b="1">
                        <a:solidFill>
                          <a:schemeClr val="dk1"/>
                        </a:solidFill>
                        <a:latin typeface="Arial"/>
                        <a:ea typeface="Raleway ExtraBold"/>
                        <a:cs typeface="Arial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rial"/>
                          <a:ea typeface="Raleway ExtraBold"/>
                          <a:cs typeface="Arial"/>
                        </a:rPr>
                        <a:t>ВЫРУЧКА</a:t>
                      </a:r>
                      <a:endParaRPr lang="en" sz="1000" b="1">
                        <a:solidFill>
                          <a:schemeClr val="dk1"/>
                        </a:solidFill>
                        <a:latin typeface="Arial"/>
                        <a:ea typeface="Raleway ExtraBold"/>
                        <a:cs typeface="Arial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rial"/>
                          <a:ea typeface="Raleway ExtraBold"/>
                          <a:cs typeface="Arial"/>
                        </a:rPr>
                        <a:t>ВОЗВРАТ</a:t>
                      </a:r>
                      <a:endParaRPr lang="en" sz="1000" b="1">
                        <a:solidFill>
                          <a:schemeClr val="dk1"/>
                        </a:solidFill>
                        <a:latin typeface="Arial"/>
                        <a:ea typeface="Raleway ExtraBold"/>
                        <a:cs typeface="Arial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Товар </a:t>
                      </a:r>
                      <a:r>
                        <a:rPr lang="en" sz="10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1</a:t>
                      </a:r>
                      <a:endParaRPr sz="10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500</a:t>
                      </a:r>
                      <a:endParaRPr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2,000,000</a:t>
                      </a:r>
                      <a:endParaRPr lang="ru-RU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40</a:t>
                      </a:r>
                      <a:endParaRPr lang="ru-RU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 b="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93" name="Google Shape;1193;p46"/>
          <p:cNvSpPr txBox="1"/>
          <p:nvPr/>
        </p:nvSpPr>
        <p:spPr>
          <a:xfrm>
            <a:off x="4231500" y="1186325"/>
            <a:ext cx="1346700" cy="4002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700" b="1">
                <a:solidFill>
                  <a:schemeClr val="lt1"/>
                </a:solidFill>
                <a:ea typeface="Raleway ExtraBold"/>
                <a:sym typeface="Raleway ExtraBold"/>
              </a:rPr>
              <a:t>$4,000,000</a:t>
            </a:r>
            <a:endParaRPr lang="ru-RU" sz="1700">
              <a:solidFill>
                <a:schemeClr val="lt1"/>
              </a:solidFill>
              <a:ea typeface="Raleway ExtraBold"/>
            </a:endParaRPr>
          </a:p>
        </p:txBody>
      </p:sp>
      <p:sp>
        <p:nvSpPr>
          <p:cNvPr id="1194" name="Google Shape;1194;p46"/>
          <p:cNvSpPr txBox="1"/>
          <p:nvPr/>
        </p:nvSpPr>
        <p:spPr>
          <a:xfrm>
            <a:off x="5654398" y="1186325"/>
            <a:ext cx="1346700" cy="4002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700" b="1">
                <a:solidFill>
                  <a:schemeClr val="lt1"/>
                </a:solidFill>
                <a:ea typeface="Raleway ExtraBold"/>
                <a:sym typeface="Raleway ExtraBold"/>
              </a:rPr>
              <a:t>$100,000</a:t>
            </a:r>
            <a:endParaRPr lang="ru-RU" sz="1700" b="1">
              <a:solidFill>
                <a:schemeClr val="lt1"/>
              </a:solidFill>
              <a:ea typeface="Raleway ExtraBold"/>
            </a:endParaRPr>
          </a:p>
        </p:txBody>
      </p:sp>
      <p:sp>
        <p:nvSpPr>
          <p:cNvPr id="1195" name="Google Shape;1195;p46"/>
          <p:cNvSpPr txBox="1"/>
          <p:nvPr/>
        </p:nvSpPr>
        <p:spPr>
          <a:xfrm>
            <a:off x="7077296" y="1186325"/>
            <a:ext cx="1346700" cy="4002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700" b="1">
                <a:solidFill>
                  <a:schemeClr val="lt1"/>
                </a:solidFill>
                <a:ea typeface="Raleway ExtraBold"/>
                <a:sym typeface="Raleway ExtraBold"/>
              </a:rPr>
              <a:t>$5,000</a:t>
            </a:r>
            <a:endParaRPr lang="ru-RU" sz="1700" b="1">
              <a:solidFill>
                <a:schemeClr val="lt1"/>
              </a:solidFill>
              <a:ea typeface="Raleway ExtraBold"/>
            </a:endParaRPr>
          </a:p>
        </p:txBody>
      </p:sp>
      <p:sp>
        <p:nvSpPr>
          <p:cNvPr id="1196" name="Google Shape;1196;p46"/>
          <p:cNvSpPr txBox="1"/>
          <p:nvPr/>
        </p:nvSpPr>
        <p:spPr>
          <a:xfrm>
            <a:off x="4231500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200" err="1">
                <a:solidFill>
                  <a:schemeClr val="dk1"/>
                </a:solidFill>
                <a:ea typeface="Hanken Grotesk"/>
                <a:sym typeface="Hanken Grotesk"/>
              </a:rPr>
              <a:t>Выручка</a:t>
            </a:r>
            <a:endParaRPr lang="en" sz="1200" err="1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97" name="Google Shape;1197;p46"/>
          <p:cNvSpPr txBox="1"/>
          <p:nvPr/>
        </p:nvSpPr>
        <p:spPr>
          <a:xfrm>
            <a:off x="5654398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err="1">
                <a:solidFill>
                  <a:schemeClr val="dk1"/>
                </a:solidFill>
                <a:ea typeface="Hanken Grotesk"/>
              </a:rPr>
              <a:t>Общие затраты</a:t>
            </a:r>
            <a:endParaRPr lang="en" sz="12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98" name="Google Shape;1198;p46"/>
          <p:cNvSpPr txBox="1"/>
          <p:nvPr/>
        </p:nvSpPr>
        <p:spPr>
          <a:xfrm>
            <a:off x="7077296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200" err="1">
                <a:solidFill>
                  <a:schemeClr val="dk1"/>
                </a:solidFill>
                <a:ea typeface="Hanken Grotesk"/>
              </a:rPr>
              <a:t>Прибыль</a:t>
            </a:r>
            <a:endParaRPr lang="en" sz="12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99" name="Google Shape;1199;p46"/>
          <p:cNvSpPr txBox="1"/>
          <p:nvPr/>
        </p:nvSpPr>
        <p:spPr>
          <a:xfrm>
            <a:off x="4479750" y="4204400"/>
            <a:ext cx="369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000">
                <a:solidFill>
                  <a:schemeClr val="dk1"/>
                </a:solidFill>
                <a:ea typeface="Hanken Grotesk"/>
                <a:sym typeface="Hanken Grotesk"/>
              </a:rPr>
              <a:t>Перейдите по ссылке на графике, чтобы изменить его данные, а затем вставьте новые сюда.</a:t>
            </a: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sym typeface="Hanken Grotesk"/>
              </a:rPr>
              <a:t> </a:t>
            </a: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Для доп. информации нажми здесь</a:t>
            </a:r>
            <a:endParaRPr lang="en" sz="1000">
              <a:solidFill>
                <a:schemeClr val="dk1"/>
              </a:solidFill>
              <a:latin typeface="Hanken Grotesk"/>
              <a:ea typeface="Hanken Grotesk"/>
              <a:sym typeface="Hanken Grotesk"/>
            </a:endParaRPr>
          </a:p>
          <a:p>
            <a:pPr algn="ctr"/>
            <a:endParaRPr lang="en" sz="1000">
              <a:solidFill>
                <a:schemeClr val="dk1"/>
              </a:solidFill>
              <a:latin typeface="Hanken Grotesk"/>
              <a:ea typeface="Hanken Grotesk"/>
              <a:cs typeface="Hanken Grotesk"/>
            </a:endParaRPr>
          </a:p>
        </p:txBody>
      </p:sp>
      <p:pic>
        <p:nvPicPr>
          <p:cNvPr id="1200" name="Google Shape;1200;p46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5102" y="2012225"/>
            <a:ext cx="3545295" cy="21921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18FDF4-6925-3988-6C13-6827960FBE35}"/>
              </a:ext>
            </a:extLst>
          </p:cNvPr>
          <p:cNvSpPr txBox="1"/>
          <p:nvPr/>
        </p:nvSpPr>
        <p:spPr>
          <a:xfrm>
            <a:off x="720772" y="511791"/>
            <a:ext cx="24310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KPI ДАШБОРД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8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2026-08-02T20:29:44.090</cp:lastPrinted>
  <dcterms:created xsi:type="dcterms:W3CDTF">2026-08-02T20:29:44Z</dcterms:created>
  <dcterms:modified xsi:type="dcterms:W3CDTF">2026-08-02T20:29:44Z</dcterms:modified>
</cp:coreProperties>
</file>