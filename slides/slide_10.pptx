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1858B03B-B4F3-4857-865B-DD344EB354F3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49"/>
        <p:cNvGrpSpPr/>
        <p:nvPr/>
      </p:nvGrpSpPr>
      <p:grpSpPr>
        <a:xfrm>
          <a:off x="0" y="0"/>
          <a:ext cx="0" cy="0"/>
        </a:xfrm>
      </p:grpSpPr>
      <p:sp>
        <p:nvSpPr>
          <p:cNvPr id="950" name="Google Shape;950;g54dda1946d_4_270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1" name="Google Shape;951;g54dda1946d_4_270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5FC13B5-84EB-4EF5-A928-A9B8EE2B603E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02D3EEF-E57E-4ACE-93B4-4A65F55EB9E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629BE11-83CE-43E5-A67F-ACE1087BCAA0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05859C6-FE38-4B8D-9B8A-32F25DEC9C8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805FBDEC-4C8E-4C9B-B0AB-4365429FCF2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4A7E281D-F641-472F-9789-DF778791FFA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60870EA8-5E6C-4CDD-93EA-C4F90AC82E2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935D034A-52D6-4501-994A-D4B299F3606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8EB7A1B-C13C-4D0F-A760-55C7225C9D3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71243B8-B07A-4F77-828D-D772CF95947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9DF6393-1100-4B26-8476-E032A534EAD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952"/>
        <p:cNvGrpSpPr/>
        <p:nvPr/>
      </p:nvGrpSpPr>
      <p:grpSpPr>
        <a:xfrm>
          <a:off x="0" y="0"/>
          <a:ext cx="0" cy="0"/>
        </a:xfrm>
      </p:grpSpPr>
      <p:graphicFrame>
        <p:nvGraphicFramePr>
          <p:cNvPr id="954" name="Google Shape;954;p40"/>
          <p:cNvGraphicFramePr>
            <a:graphicFrameLocks noGrp="1"/>
          </p:cNvGraphicFramePr>
          <p:nvPr>
            <p:extLst>
              <p:ext uri="{D42A27DB-BD31-4B8C-83A1-F6EECF244321}">
                <p14:modId val="2571902759"/>
              </p:ext>
            </p:extLst>
          </p:nvPr>
        </p:nvGraphicFramePr>
        <p:xfrm>
          <a:off x="719963" y="1161610"/>
          <a:ext cx="7703836" cy="3383875"/>
        </p:xfrm>
        <a:graphic>
          <a:graphicData uri="http://schemas.openxmlformats.org/drawingml/2006/table">
            <a:tbl>
              <a:tblPr>
                <a:noFill/>
                <a:tableStyleId>{1858B03B-B4F3-4857-865B-DD344EB354F3}</a:tableStyleId>
              </a:tblPr>
              <a:tblGrid>
                <a:gridCol w="11600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018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80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934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768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54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4499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33125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sz="1800">
                        <a:solidFill>
                          <a:schemeClr val="dk1"/>
                        </a:solidFill>
                        <a:latin typeface="Arial"/>
                        <a:ea typeface="Bebas Neue"/>
                        <a:cs typeface="Arial"/>
                        <a:sym typeface="Bebas Neue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Особенности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Ценность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Стоимость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Проба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Компетентность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Raleway"/>
                          <a:cs typeface="Arial"/>
                        </a:rPr>
                        <a:t>Доля</a:t>
                      </a:r>
                      <a:endParaRPr lang="en" sz="1100" b="1" err="1">
                        <a:solidFill>
                          <a:schemeClr val="dk1"/>
                        </a:solidFill>
                        <a:latin typeface="Arial"/>
                        <a:ea typeface="Raleway"/>
                        <a:cs typeface="Arial"/>
                        <a:sym typeface="Raleway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 A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Экономия топлива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Специальные предложения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0" i="0" u="none" strike="noStrike" noProof="0">
                          <a:solidFill>
                            <a:schemeClr val="dk1"/>
                          </a:solidFill>
                          <a:latin typeface="Arial"/>
                          <a:cs typeface="Arial"/>
                        </a:rPr>
                        <a:t>$23,000</a:t>
                      </a:r>
                      <a:endParaRPr lang="ru-RU">
                        <a:latin typeface="Arial"/>
                        <a:cs typeface="Arial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Нет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Низкая</a:t>
                      </a:r>
                      <a:endParaRPr lang="en" sz="1000" err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21%</a:t>
                      </a: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baseline="0" noProof="0" err="1">
                          <a:solidFill>
                            <a:srgbClr val="FFFFFF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B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noProof="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C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baseline="0" noProof="0" err="1">
                          <a:solidFill>
                            <a:srgbClr val="FFFFFF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D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i="0" u="none" strike="noStrike" baseline="0" noProof="0" err="1">
                          <a:solidFill>
                            <a:srgbClr val="FFFFFF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 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E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 F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385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100" b="1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Компания</a:t>
                      </a:r>
                      <a:r>
                        <a:rPr lang="en" sz="11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 G</a:t>
                      </a:r>
                      <a:endParaRPr sz="11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C6071731-81EA-250A-02A7-E71BF0BFE13F}"/>
              </a:ext>
            </a:extLst>
          </p:cNvPr>
          <p:cNvSpPr txBox="1"/>
          <p:nvPr/>
        </p:nvSpPr>
        <p:spPr>
          <a:xfrm>
            <a:off x="721329" y="510971"/>
            <a:ext cx="4549260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 b="1">
                <a:solidFill>
                  <a:schemeClr val="tx1"/>
                </a:solidFill>
              </a:rPr>
              <a:t>СРАВНЕНИЕ КОНКУРЕНТОВ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10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Bebas Neue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2026-08-02T20:29:38.651</cp:lastPrinted>
  <dcterms:created xsi:type="dcterms:W3CDTF">2026-08-02T20:29:38Z</dcterms:created>
  <dcterms:modified xsi:type="dcterms:W3CDTF">2026-08-02T20:29:38Z</dcterms:modified>
</cp:coreProperties>
</file>